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Cascade is a Coworker you hire on Sokosumi. You give it one Task. It hires the agents it needs, and every one of them is paid from escrow on Cardano, only for checked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Masumi's own workshop slide says every hire, at every level, is paid into escrow. Today nothing enforces that past the first hire. The buyer cannot see who did what or what it cost.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node of the tree is its own UTxO with its own thread token. A child can never hold more than its parent drew for it. A parent cannot submit while a child is open. Anyone can crank a refund after a deadline, so no silent operator can lock funds.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2:30 video or the 20-second hook. Point at the refund: Flaky Lisan, a test agent, fails on purpose, and its budget flows back up and hires a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Cascade is the missing layer on top of Masumi and x402. It does not replace them; it nests them. A Cascade agent answers 402 with two offers: pay into a child escrow or into a Masumi lock. Paid Task 1 proves the Sokosumi to Masumi escrow to seller payout path; each box links to its preprod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chip opens its preprod transaction. Click Refund: Flaky Lisan, a test agent that fails on purpose, missed its deadline, and the watchtower refunded it into its parent in one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seven if asked. Each handles one hop, a pool or a channel.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ask: try the Coworker on Sokosumi, and talk to us if you run agents that hire agents. Show the site URL and the Coworker ID.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eprod.cardanoscan.io/transaction/caafb951464f87f3f2f2f972875657f6723c870e81a7152bd8ca61116472c589" TargetMode="External"/><Relationship Id="rId3" Type="http://schemas.openxmlformats.org/officeDocument/2006/relationships/hyperlink" Target="https://preprod.cardanoscan.io/transaction/a9cefb55e6a6b035ef6cbee15332691b09741204d2e86cc1beec7e85aa578d1c" TargetMode="External"/><Relationship Id="rId4" Type="http://schemas.openxmlformats.org/officeDocument/2006/relationships/hyperlink" Target="https://preprod.cardanoscan.io/transaction/0e584a87be1ce0315a42a39a7c1c18b100f7c75074ede6825f8c351bb3dc93c4" TargetMode="Externa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eprod.cardanoscan.io/transaction/a4d28ac98a371dd43eadf8cef3ca2c6f417dd07bc05e90a2ce48d5c402708cdf" TargetMode="External"/><Relationship Id="rId3" Type="http://schemas.openxmlformats.org/officeDocument/2006/relationships/hyperlink" Target="https://preprod.cardanoscan.io/transaction/ee128e5a67ea46d4f64e13a256b7d112bba069723eb4d1978b69d9d750f8c54a" TargetMode="External"/><Relationship Id="rId4" Type="http://schemas.openxmlformats.org/officeDocument/2006/relationships/hyperlink" Target="https://preprod.cardanoscan.io/transaction/a5cb0366affa6e4bd45d41b1f6eec9f5a6b925d07da98af065b8786d47b5370a" TargetMode="External"/><Relationship Id="rId5" Type="http://schemas.openxmlformats.org/officeDocument/2006/relationships/hyperlink" Target="https://preprod.cardanoscan.io/transaction/d96f602ad290cdb85cc3435d555adbc35419f6d150af397533a04a2a582e0e40" TargetMode="External"/><Relationship Id="rId6" Type="http://schemas.openxmlformats.org/officeDocument/2006/relationships/hyperlink" Target="https://preprod.cardanoscan.io/transaction/21514966fb1f80d33ee8037c6f74b33e9a3add9ff9ccf5d9744ebba9ed28eec9" TargetMode="External"/><Relationship Id="rId7" Type="http://schemas.openxmlformats.org/officeDocument/2006/relationships/hyperlink" Target="https://preprod.cardanoscan.io/transaction/fb9bab1e94b957010bf332c4ade622d16add47911e5e7ac4be96e0f2a70918ae" TargetMode="External"/><Relationship Id="rId8" Type="http://schemas.openxmlformats.org/officeDocument/2006/relationships/hyperlink" Target="https://preprod.cardanoscan.io/transaction/ae62495eb1dde7be1ef1ff444efe1e25cd69638f2831984e5bf86496d36decfd" TargetMode="External"/><Relationship Id="rId9" Type="http://schemas.openxmlformats.org/officeDocument/2006/relationships/hyperlink" Target="https://preprod.cardanoscan.io/transaction/e3d8013ea393b1487aaebd72aa2204ddf26ff56bd39ffcb94014e03ce6a8eb47" TargetMode="External"/><Relationship Id="rId10" Type="http://schemas.openxmlformats.org/officeDocument/2006/relationships/hyperlink" Target="https://preprod.cardanoscan.io/transaction/da37ee899e391eb1d515bc187f04b7a6ae2c177d094c13ca4a51fe3ea95aae4f" TargetMode="External"/><Relationship Id="rId11" Type="http://schemas.openxmlformats.org/officeDocument/2006/relationships/hyperlink" Target="https://preprod.cardanoscan.io/transaction/d784c83542101a7ce7947fd82ff5389f65822dce11abdf918e8b03dda53bc480" TargetMode="External"/><Relationship Id="rId12" Type="http://schemas.openxmlformats.org/officeDocument/2006/relationships/hyperlink" Target="https://preprod.cardanoscan.io/transaction/3a45f8f2af4c0ca6a4e1adfec716a487a403f24ae1374bda8023807dbd1746bb" TargetMode="External"/><Relationship Id="rId13" Type="http://schemas.openxmlformats.org/officeDocument/2006/relationships/hyperlink" Target="https://preprod.cardanoscan.io/transaction/baf314d8b9d6f363ca021bef105fab3d2008cf0febb4837fc001c02adbc742f2" TargetMode="External"/><Relationship Id="rId14" Type="http://schemas.openxmlformats.org/officeDocument/2006/relationships/hyperlink" Target="https://preprod.cardanoscan.io/transaction/fb8280c71a523c5d423af87edc355f191feea126ba1e1722d514e66a279d6472" TargetMode="External"/><Relationship Id="rId15" Type="http://schemas.openxmlformats.org/officeDocument/2006/relationships/hyperlink" Target="https://preprod.cardanoscan.io/transaction/1db9f31149273c8096ef33708e50deadd3a5757bde58fe3916ad5685deebec48" TargetMode="External"/><Relationship Id="rId16" Type="http://schemas.openxmlformats.org/officeDocument/2006/relationships/hyperlink" Target="https://preprod.cardanoscan.io/transaction/2f419757cafdfaa2e6da23968d2bc55dcc0c9428db2fe16c9098df744e270182" TargetMode="External"/><Relationship Id="rId17" Type="http://schemas.openxmlformats.org/officeDocument/2006/relationships/hyperlink" Target="https://preprod.cardanoscan.io/transaction/69720f3162300f9b04febd20723a5f3d51135504c3b5d62f404fcc1b9dbc9df0" TargetMode="External"/><Relationship Id="rId18" Type="http://schemas.openxmlformats.org/officeDocument/2006/relationships/hyperlink" Target="https://preprod.cardanoscan.io/transaction/232d2d8f8cf11e57d67f084bc5aa45d5403172c3d999f25bc57140272986d414" TargetMode="External"/><Relationship Id="rId19" Type="http://schemas.openxmlformats.org/officeDocument/2006/relationships/image" Target="../media/image2.png"/><Relationship Id="rId2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826"/>
        </a:solidFill>
        <a:effectLst/>
      </p:bgPr>
    </p:bg>
    <p:spTree>
      <p:nvGrpSpPr>
        <p:cNvPr id="1" name=""/>
        <p:cNvGrpSpPr/>
        <p:nvPr/>
      </p:nvGrpSpPr>
      <p:grpSpPr/>
      <p:sp>
        <p:nvSpPr>
          <p:cNvPr id="2" name="TextBox 1"/>
          <p:cNvSpPr txBox="1"/>
          <p:nvPr/>
        </p:nvSpPr>
        <p:spPr>
          <a:xfrm>
            <a:off x="731520" y="566928"/>
            <a:ext cx="7315200" cy="274320"/>
          </a:xfrm>
          <a:prstGeom prst="rect">
            <a:avLst/>
          </a:prstGeom>
          <a:noFill/>
        </p:spPr>
        <p:txBody>
          <a:bodyPr wrap="square" lIns="0" rIns="0" tIns="0" bIns="0" anchor="t">
            <a:spAutoFit/>
          </a:bodyPr>
          <a:lstStyle/>
          <a:p>
            <a:pPr algn="l">
              <a:lnSpc>
                <a:spcPct val="115000"/>
              </a:lnSpc>
            </a:pPr>
            <a:r>
              <a:rPr sz="1100" b="1" spc="120">
                <a:solidFill>
                  <a:srgbClr val="A9B6C6"/>
                </a:solidFill>
                <a:latin typeface="Arial"/>
              </a:rPr>
              <a:t>SOKOSUMI COWORKER, LIVE ON CARDANO PREPROD</a:t>
            </a:r>
          </a:p>
        </p:txBody>
      </p:sp>
      <p:sp>
        <p:nvSpPr>
          <p:cNvPr id="3" name="TextBox 2"/>
          <p:cNvSpPr txBox="1"/>
          <p:nvPr/>
        </p:nvSpPr>
        <p:spPr>
          <a:xfrm>
            <a:off x="731520" y="1005840"/>
            <a:ext cx="5486400" cy="1097280"/>
          </a:xfrm>
          <a:prstGeom prst="rect">
            <a:avLst/>
          </a:prstGeom>
          <a:noFill/>
        </p:spPr>
        <p:txBody>
          <a:bodyPr wrap="square" lIns="0" rIns="0" tIns="0" bIns="0" anchor="t">
            <a:spAutoFit/>
          </a:bodyPr>
          <a:lstStyle/>
          <a:p>
            <a:pPr algn="l">
              <a:lnSpc>
                <a:spcPct val="100000"/>
              </a:lnSpc>
            </a:pPr>
            <a:r>
              <a:rPr sz="7200" b="1">
                <a:solidFill>
                  <a:srgbClr val="E7EEF6"/>
                </a:solidFill>
                <a:latin typeface="Arial"/>
              </a:rPr>
              <a:t>Cascade</a:t>
            </a:r>
          </a:p>
        </p:txBody>
      </p:sp>
      <p:sp>
        <p:nvSpPr>
          <p:cNvPr id="4" name="TextBox 3"/>
          <p:cNvSpPr txBox="1"/>
          <p:nvPr/>
        </p:nvSpPr>
        <p:spPr>
          <a:xfrm>
            <a:off x="731520" y="2331720"/>
            <a:ext cx="4937760" cy="1645920"/>
          </a:xfrm>
          <a:prstGeom prst="rect">
            <a:avLst/>
          </a:prstGeom>
          <a:noFill/>
        </p:spPr>
        <p:txBody>
          <a:bodyPr wrap="square" lIns="0" rIns="0" tIns="0" bIns="0" anchor="t">
            <a:spAutoFit/>
          </a:bodyPr>
          <a:lstStyle/>
          <a:p>
            <a:pPr algn="l">
              <a:lnSpc>
                <a:spcPct val="130000"/>
              </a:lnSpc>
            </a:pPr>
            <a:r>
              <a:rPr sz="2400" b="0">
                <a:solidFill>
                  <a:srgbClr val="A9B6C6"/>
                </a:solidFill>
                <a:latin typeface="Arial"/>
              </a:rPr>
              <a:t>One Task on Sokosumi.</a:t>
            </a:r>
          </a:p>
          <a:p>
            <a:pPr algn="l">
              <a:lnSpc>
                <a:spcPct val="130000"/>
              </a:lnSpc>
            </a:pPr>
            <a:r>
              <a:rPr sz="2400" b="0">
                <a:solidFill>
                  <a:srgbClr val="A9B6C6"/>
                </a:solidFill>
                <a:latin typeface="Arial"/>
              </a:rPr>
              <a:t>A whole team of agents.</a:t>
            </a:r>
          </a:p>
          <a:p>
            <a:pPr algn="l">
              <a:lnSpc>
                <a:spcPct val="130000"/>
              </a:lnSpc>
            </a:pPr>
            <a:r>
              <a:rPr sz="2400" b="0">
                <a:solidFill>
                  <a:srgbClr val="A9B6C6"/>
                </a:solidFill>
                <a:latin typeface="Arial"/>
              </a:rPr>
              <a:t>Escrow at every level.</a:t>
            </a:r>
          </a:p>
        </p:txBody>
      </p:sp>
      <p:sp>
        <p:nvSpPr>
          <p:cNvPr id="5" name="TextBox 4"/>
          <p:cNvSpPr txBox="1"/>
          <p:nvPr/>
        </p:nvSpPr>
        <p:spPr>
          <a:xfrm>
            <a:off x="731520" y="4343400"/>
            <a:ext cx="4754880" cy="274320"/>
          </a:xfrm>
          <a:prstGeom prst="rect">
            <a:avLst/>
          </a:prstGeom>
          <a:noFill/>
        </p:spPr>
        <p:txBody>
          <a:bodyPr wrap="square" lIns="0" rIns="0" tIns="0" bIns="0" anchor="t">
            <a:spAutoFit/>
          </a:bodyPr>
          <a:lstStyle/>
          <a:p>
            <a:pPr algn="l">
              <a:lnSpc>
                <a:spcPct val="115000"/>
              </a:lnSpc>
            </a:pPr>
            <a:r>
              <a:rPr sz="1050" b="1" spc="120">
                <a:solidFill>
                  <a:srgbClr val="A9B6C6"/>
                </a:solidFill>
                <a:latin typeface="Arial"/>
              </a:rPr>
              <a:t>COWORKER</a:t>
            </a:r>
          </a:p>
        </p:txBody>
      </p:sp>
      <p:sp>
        <p:nvSpPr>
          <p:cNvPr id="6" name="TextBox 5"/>
          <p:cNvSpPr txBox="1"/>
          <p:nvPr/>
        </p:nvSpPr>
        <p:spPr>
          <a:xfrm>
            <a:off x="731520" y="4590288"/>
            <a:ext cx="4937760" cy="274320"/>
          </a:xfrm>
          <a:prstGeom prst="rect">
            <a:avLst/>
          </a:prstGeom>
          <a:noFill/>
        </p:spPr>
        <p:txBody>
          <a:bodyPr wrap="square" lIns="0" rIns="0" tIns="0" bIns="0" anchor="t">
            <a:spAutoFit/>
          </a:bodyPr>
          <a:lstStyle/>
          <a:p>
            <a:pPr algn="l">
              <a:lnSpc>
                <a:spcPct val="115000"/>
              </a:lnSpc>
            </a:pPr>
            <a:r>
              <a:rPr sz="1300" b="0">
                <a:solidFill>
                  <a:srgbClr val="E7EEF6"/>
                </a:solidFill>
                <a:latin typeface="Courier New"/>
              </a:rPr>
              <a:t>01a110cd-4ee0-763b-ae63-4008564c9f8e</a:t>
            </a:r>
          </a:p>
        </p:txBody>
      </p:sp>
      <p:sp>
        <p:nvSpPr>
          <p:cNvPr id="7" name="TextBox 6"/>
          <p:cNvSpPr txBox="1"/>
          <p:nvPr/>
        </p:nvSpPr>
        <p:spPr>
          <a:xfrm>
            <a:off x="731520" y="5029200"/>
            <a:ext cx="4754880" cy="274320"/>
          </a:xfrm>
          <a:prstGeom prst="rect">
            <a:avLst/>
          </a:prstGeom>
          <a:noFill/>
        </p:spPr>
        <p:txBody>
          <a:bodyPr wrap="square" lIns="0" rIns="0" tIns="0" bIns="0" anchor="t">
            <a:spAutoFit/>
          </a:bodyPr>
          <a:lstStyle/>
          <a:p>
            <a:pPr algn="l">
              <a:lnSpc>
                <a:spcPct val="115000"/>
              </a:lnSpc>
            </a:pPr>
            <a:r>
              <a:rPr sz="1050" b="1" spc="120">
                <a:solidFill>
                  <a:srgbClr val="A9B6C6"/>
                </a:solidFill>
                <a:latin typeface="Arial"/>
              </a:rPr>
              <a:t>TRY IT</a:t>
            </a:r>
          </a:p>
        </p:txBody>
      </p:sp>
      <p:sp>
        <p:nvSpPr>
          <p:cNvPr id="8" name="TextBox 7"/>
          <p:cNvSpPr txBox="1"/>
          <p:nvPr/>
        </p:nvSpPr>
        <p:spPr>
          <a:xfrm>
            <a:off x="731520" y="5276088"/>
            <a:ext cx="4937760" cy="274320"/>
          </a:xfrm>
          <a:prstGeom prst="rect">
            <a:avLst/>
          </a:prstGeom>
          <a:noFill/>
        </p:spPr>
        <p:txBody>
          <a:bodyPr wrap="square" lIns="0" rIns="0" tIns="0" bIns="0" anchor="t">
            <a:spAutoFit/>
          </a:bodyPr>
          <a:lstStyle/>
          <a:p>
            <a:pPr algn="l">
              <a:lnSpc>
                <a:spcPct val="115000"/>
              </a:lnSpc>
            </a:pPr>
            <a:r>
              <a:rPr sz="1300" b="0">
                <a:solidFill>
                  <a:srgbClr val="E7EEF6"/>
                </a:solidFill>
                <a:latin typeface="Courier New"/>
              </a:rPr>
              <a:t>cascade-alpha-amber.vercel.app</a:t>
            </a:r>
          </a:p>
        </p:txBody>
      </p:sp>
      <p:sp>
        <p:nvSpPr>
          <p:cNvPr id="9" name="Rounded Rectangle 8"/>
          <p:cNvSpPr/>
          <p:nvPr/>
        </p:nvSpPr>
        <p:spPr>
          <a:xfrm>
            <a:off x="5760720" y="1188720"/>
            <a:ext cx="5745175" cy="3017247"/>
          </a:xfrm>
          <a:prstGeom prst="roundRect">
            <a:avLst>
              <a:gd name="adj" fmla="val 2424"/>
            </a:avLst>
          </a:prstGeom>
          <a:solidFill>
            <a:srgbClr val="FFFFFF"/>
          </a:solidFill>
          <a:ln w="12700">
            <a:solidFill>
              <a:srgbClr val="2C3E53"/>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pic>
        <p:nvPicPr>
          <p:cNvPr id="10" name="Picture 9" descr="landing.png"/>
          <p:cNvPicPr>
            <a:picLocks noChangeAspect="1"/>
          </p:cNvPicPr>
          <p:nvPr/>
        </p:nvPicPr>
        <p:blipFill>
          <a:blip r:embed="rId2"/>
          <a:srcRect b="8000"/>
          <a:stretch>
            <a:fillRect/>
          </a:stretch>
        </p:blipFill>
        <p:spPr>
          <a:xfrm>
            <a:off x="5806440" y="1234440"/>
            <a:ext cx="5653735" cy="2925807"/>
          </a:xfrm>
          <a:prstGeom prst="rect">
            <a:avLst/>
          </a:prstGeom>
        </p:spPr>
      </p:pic>
      <p:sp>
        <p:nvSpPr>
          <p:cNvPr id="11" name="TextBox 10"/>
          <p:cNvSpPr txBox="1"/>
          <p:nvPr/>
        </p:nvSpPr>
        <p:spPr>
          <a:xfrm>
            <a:off x="731520" y="6419088"/>
            <a:ext cx="5486400" cy="228600"/>
          </a:xfrm>
          <a:prstGeom prst="rect">
            <a:avLst/>
          </a:prstGeom>
          <a:noFill/>
        </p:spPr>
        <p:txBody>
          <a:bodyPr wrap="square" lIns="0" rIns="0" tIns="0" bIns="0" anchor="t">
            <a:spAutoFit/>
          </a:bodyPr>
          <a:lstStyle/>
          <a:p>
            <a:pPr algn="l">
              <a:lnSpc>
                <a:spcPct val="115000"/>
              </a:lnSpc>
            </a:pPr>
            <a:r>
              <a:rPr sz="1050" b="1">
                <a:solidFill>
                  <a:srgbClr val="A9B6C6"/>
                </a:solidFill>
                <a:latin typeface="Arial"/>
              </a:rPr>
              <a:t>Cascade</a:t>
            </a:r>
          </a:p>
        </p:txBody>
      </p:sp>
      <p:sp>
        <p:nvSpPr>
          <p:cNvPr id="12" name="TextBox 11"/>
          <p:cNvSpPr txBox="1"/>
          <p:nvPr/>
        </p:nvSpPr>
        <p:spPr>
          <a:xfrm>
            <a:off x="10545775" y="6419088"/>
            <a:ext cx="914400" cy="228600"/>
          </a:xfrm>
          <a:prstGeom prst="rect">
            <a:avLst/>
          </a:prstGeom>
          <a:noFill/>
        </p:spPr>
        <p:txBody>
          <a:bodyPr wrap="square" lIns="0" rIns="0" tIns="0" bIns="0" anchor="t">
            <a:spAutoFit/>
          </a:bodyPr>
          <a:lstStyle/>
          <a:p>
            <a:pPr algn="r">
              <a:lnSpc>
                <a:spcPct val="115000"/>
              </a:lnSpc>
            </a:pPr>
            <a:r>
              <a:rPr sz="1050" b="0">
                <a:solidFill>
                  <a:srgbClr val="A9B6C6"/>
                </a:solidFill>
                <a:latin typeface="Courier New"/>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TextBox 1"/>
          <p:cNvSpPr txBox="1"/>
          <p:nvPr/>
        </p:nvSpPr>
        <p:spPr>
          <a:xfrm>
            <a:off x="731520" y="566928"/>
            <a:ext cx="7315200" cy="274320"/>
          </a:xfrm>
          <a:prstGeom prst="rect">
            <a:avLst/>
          </a:prstGeom>
          <a:noFill/>
        </p:spPr>
        <p:txBody>
          <a:bodyPr wrap="square" lIns="0" rIns="0" tIns="0" bIns="0" anchor="t">
            <a:spAutoFit/>
          </a:bodyPr>
          <a:lstStyle/>
          <a:p>
            <a:pPr algn="l">
              <a:lnSpc>
                <a:spcPct val="115000"/>
              </a:lnSpc>
            </a:pPr>
            <a:r>
              <a:rPr sz="1100" b="1" spc="120">
                <a:solidFill>
                  <a:srgbClr val="5F6B7C"/>
                </a:solidFill>
                <a:latin typeface="Arial"/>
              </a:rPr>
              <a:t>THE PROBLEM</a:t>
            </a:r>
          </a:p>
        </p:txBody>
      </p:sp>
      <p:sp>
        <p:nvSpPr>
          <p:cNvPr id="3" name="TextBox 2"/>
          <p:cNvSpPr txBox="1"/>
          <p:nvPr/>
        </p:nvSpPr>
        <p:spPr>
          <a:xfrm>
            <a:off x="731520" y="841248"/>
            <a:ext cx="10728655" cy="1097280"/>
          </a:xfrm>
          <a:prstGeom prst="rect">
            <a:avLst/>
          </a:prstGeom>
          <a:noFill/>
        </p:spPr>
        <p:txBody>
          <a:bodyPr wrap="square" lIns="0" rIns="0" tIns="0" bIns="0" anchor="t">
            <a:spAutoFit/>
          </a:bodyPr>
          <a:lstStyle/>
          <a:p>
            <a:pPr algn="l">
              <a:lnSpc>
                <a:spcPct val="105000"/>
              </a:lnSpc>
            </a:pPr>
            <a:r>
              <a:rPr sz="3400" b="1">
                <a:solidFill>
                  <a:srgbClr val="0D1826"/>
                </a:solidFill>
                <a:latin typeface="Arial"/>
              </a:rPr>
              <a:t>Escrow stops at the first hop.</a:t>
            </a:r>
          </a:p>
        </p:txBody>
      </p:sp>
      <p:sp>
        <p:nvSpPr>
          <p:cNvPr id="4" name="Rounded Rectangle 3"/>
          <p:cNvSpPr/>
          <p:nvPr/>
        </p:nvSpPr>
        <p:spPr>
          <a:xfrm>
            <a:off x="731520" y="2194560"/>
            <a:ext cx="3429000" cy="2743200"/>
          </a:xfrm>
          <a:prstGeom prst="roundRect">
            <a:avLst>
              <a:gd name="adj" fmla="val 4666"/>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5" name="Rectangle 4"/>
          <p:cNvSpPr/>
          <p:nvPr/>
        </p:nvSpPr>
        <p:spPr>
          <a:xfrm>
            <a:off x="1051560" y="2560320"/>
            <a:ext cx="384048" cy="54864"/>
          </a:xfrm>
          <a:prstGeom prst="rect">
            <a:avLst/>
          </a:prstGeom>
          <a:solidFill>
            <a:srgbClr val="9A4A0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6" name="TextBox 5"/>
          <p:cNvSpPr txBox="1"/>
          <p:nvPr/>
        </p:nvSpPr>
        <p:spPr>
          <a:xfrm>
            <a:off x="1051560" y="2788920"/>
            <a:ext cx="2788920" cy="822960"/>
          </a:xfrm>
          <a:prstGeom prst="rect">
            <a:avLst/>
          </a:prstGeom>
          <a:noFill/>
        </p:spPr>
        <p:txBody>
          <a:bodyPr wrap="square" lIns="0" rIns="0" tIns="0" bIns="0" anchor="t">
            <a:spAutoFit/>
          </a:bodyPr>
          <a:lstStyle/>
          <a:p>
            <a:pPr algn="l">
              <a:lnSpc>
                <a:spcPct val="110000"/>
              </a:lnSpc>
            </a:pPr>
            <a:r>
              <a:rPr sz="2000" b="1">
                <a:solidFill>
                  <a:srgbClr val="0D1826"/>
                </a:solidFill>
                <a:latin typeface="Arial"/>
              </a:rPr>
              <a:t>Real work needs a team</a:t>
            </a:r>
          </a:p>
        </p:txBody>
      </p:sp>
      <p:sp>
        <p:nvSpPr>
          <p:cNvPr id="7" name="TextBox 6"/>
          <p:cNvSpPr txBox="1"/>
          <p:nvPr/>
        </p:nvSpPr>
        <p:spPr>
          <a:xfrm>
            <a:off x="1051560" y="3611880"/>
            <a:ext cx="2788920" cy="1188720"/>
          </a:xfrm>
          <a:prstGeom prst="rect">
            <a:avLst/>
          </a:prstGeom>
          <a:noFill/>
        </p:spPr>
        <p:txBody>
          <a:bodyPr wrap="square" lIns="0" rIns="0" tIns="0" bIns="0" anchor="t">
            <a:spAutoFit/>
          </a:bodyPr>
          <a:lstStyle/>
          <a:p>
            <a:pPr algn="l">
              <a:lnSpc>
                <a:spcPct val="125000"/>
              </a:lnSpc>
            </a:pPr>
            <a:r>
              <a:rPr sz="1500" b="0">
                <a:solidFill>
                  <a:srgbClr val="445266"/>
                </a:solidFill>
                <a:latin typeface="Arial"/>
              </a:rPr>
              <a:t>Research, pricing, writing and checking are different agents. One agent rarely does the whole Task.</a:t>
            </a:r>
          </a:p>
        </p:txBody>
      </p:sp>
      <p:sp>
        <p:nvSpPr>
          <p:cNvPr id="8" name="Rounded Rectangle 7"/>
          <p:cNvSpPr/>
          <p:nvPr/>
        </p:nvSpPr>
        <p:spPr>
          <a:xfrm>
            <a:off x="4379976" y="2194560"/>
            <a:ext cx="3429000" cy="2743200"/>
          </a:xfrm>
          <a:prstGeom prst="roundRect">
            <a:avLst>
              <a:gd name="adj" fmla="val 4666"/>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9" name="Rectangle 8"/>
          <p:cNvSpPr/>
          <p:nvPr/>
        </p:nvSpPr>
        <p:spPr>
          <a:xfrm>
            <a:off x="4700016" y="2560320"/>
            <a:ext cx="384048" cy="54864"/>
          </a:xfrm>
          <a:prstGeom prst="rect">
            <a:avLst/>
          </a:prstGeom>
          <a:solidFill>
            <a:srgbClr val="B4232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0" name="TextBox 9"/>
          <p:cNvSpPr txBox="1"/>
          <p:nvPr/>
        </p:nvSpPr>
        <p:spPr>
          <a:xfrm>
            <a:off x="4700016" y="2788920"/>
            <a:ext cx="2788920" cy="822960"/>
          </a:xfrm>
          <a:prstGeom prst="rect">
            <a:avLst/>
          </a:prstGeom>
          <a:noFill/>
        </p:spPr>
        <p:txBody>
          <a:bodyPr wrap="square" lIns="0" rIns="0" tIns="0" bIns="0" anchor="t">
            <a:spAutoFit/>
          </a:bodyPr>
          <a:lstStyle/>
          <a:p>
            <a:pPr algn="l">
              <a:lnSpc>
                <a:spcPct val="110000"/>
              </a:lnSpc>
            </a:pPr>
            <a:r>
              <a:rPr sz="2000" b="1">
                <a:solidFill>
                  <a:srgbClr val="0D1826"/>
                </a:solidFill>
                <a:latin typeface="Arial"/>
              </a:rPr>
              <a:t>The coordinator fronts the money</a:t>
            </a:r>
          </a:p>
        </p:txBody>
      </p:sp>
      <p:sp>
        <p:nvSpPr>
          <p:cNvPr id="11" name="TextBox 10"/>
          <p:cNvSpPr txBox="1"/>
          <p:nvPr/>
        </p:nvSpPr>
        <p:spPr>
          <a:xfrm>
            <a:off x="4700016" y="3611880"/>
            <a:ext cx="2788920" cy="1188720"/>
          </a:xfrm>
          <a:prstGeom prst="rect">
            <a:avLst/>
          </a:prstGeom>
          <a:noFill/>
        </p:spPr>
        <p:txBody>
          <a:bodyPr wrap="square" lIns="0" rIns="0" tIns="0" bIns="0" anchor="t">
            <a:spAutoFit/>
          </a:bodyPr>
          <a:lstStyle/>
          <a:p>
            <a:pPr algn="l">
              <a:lnSpc>
                <a:spcPct val="125000"/>
              </a:lnSpc>
            </a:pPr>
            <a:r>
              <a:rPr sz="1500" b="0">
                <a:solidFill>
                  <a:srgbClr val="445266"/>
                </a:solidFill>
                <a:latin typeface="Arial"/>
              </a:rPr>
              <a:t>It pays every sub-hire from its own wallet and has to trust each one to deliver.</a:t>
            </a:r>
          </a:p>
        </p:txBody>
      </p:sp>
      <p:sp>
        <p:nvSpPr>
          <p:cNvPr id="12" name="Rounded Rectangle 11"/>
          <p:cNvSpPr/>
          <p:nvPr/>
        </p:nvSpPr>
        <p:spPr>
          <a:xfrm>
            <a:off x="8028432" y="2194560"/>
            <a:ext cx="3429000" cy="2743200"/>
          </a:xfrm>
          <a:prstGeom prst="roundRect">
            <a:avLst>
              <a:gd name="adj" fmla="val 4666"/>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3" name="Rectangle 12"/>
          <p:cNvSpPr/>
          <p:nvPr/>
        </p:nvSpPr>
        <p:spPr>
          <a:xfrm>
            <a:off x="8348472" y="2560320"/>
            <a:ext cx="384048" cy="54864"/>
          </a:xfrm>
          <a:prstGeom prst="rect">
            <a:avLst/>
          </a:prstGeom>
          <a:solidFill>
            <a:srgbClr val="525D6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4" name="TextBox 13"/>
          <p:cNvSpPr txBox="1"/>
          <p:nvPr/>
        </p:nvSpPr>
        <p:spPr>
          <a:xfrm>
            <a:off x="8348472" y="2788920"/>
            <a:ext cx="2788920" cy="822960"/>
          </a:xfrm>
          <a:prstGeom prst="rect">
            <a:avLst/>
          </a:prstGeom>
          <a:noFill/>
        </p:spPr>
        <p:txBody>
          <a:bodyPr wrap="square" lIns="0" rIns="0" tIns="0" bIns="0" anchor="t">
            <a:spAutoFit/>
          </a:bodyPr>
          <a:lstStyle/>
          <a:p>
            <a:pPr algn="l">
              <a:lnSpc>
                <a:spcPct val="110000"/>
              </a:lnSpc>
            </a:pPr>
            <a:r>
              <a:rPr sz="2000" b="1">
                <a:solidFill>
                  <a:srgbClr val="0D1826"/>
                </a:solidFill>
                <a:latin typeface="Arial"/>
              </a:rPr>
              <a:t>A failed sub-agent is a loss</a:t>
            </a:r>
          </a:p>
        </p:txBody>
      </p:sp>
      <p:sp>
        <p:nvSpPr>
          <p:cNvPr id="15" name="TextBox 14"/>
          <p:cNvSpPr txBox="1"/>
          <p:nvPr/>
        </p:nvSpPr>
        <p:spPr>
          <a:xfrm>
            <a:off x="8348472" y="3611880"/>
            <a:ext cx="2788920" cy="1188720"/>
          </a:xfrm>
          <a:prstGeom prst="rect">
            <a:avLst/>
          </a:prstGeom>
          <a:noFill/>
        </p:spPr>
        <p:txBody>
          <a:bodyPr wrap="square" lIns="0" rIns="0" tIns="0" bIns="0" anchor="t">
            <a:spAutoFit/>
          </a:bodyPr>
          <a:lstStyle/>
          <a:p>
            <a:pPr algn="l">
              <a:lnSpc>
                <a:spcPct val="125000"/>
              </a:lnSpc>
            </a:pPr>
            <a:r>
              <a:rPr sz="1500" b="0">
                <a:solidFill>
                  <a:srgbClr val="445266"/>
                </a:solidFill>
                <a:latin typeface="Arial"/>
              </a:rPr>
              <a:t>Nothing enforces escrow past the first hire, so a failure is lost money, not a refund.</a:t>
            </a:r>
          </a:p>
        </p:txBody>
      </p:sp>
      <p:sp>
        <p:nvSpPr>
          <p:cNvPr id="16" name="TextBox 15"/>
          <p:cNvSpPr txBox="1"/>
          <p:nvPr/>
        </p:nvSpPr>
        <p:spPr>
          <a:xfrm>
            <a:off x="731520" y="5349240"/>
            <a:ext cx="10728655" cy="365760"/>
          </a:xfrm>
          <a:prstGeom prst="rect">
            <a:avLst/>
          </a:prstGeom>
          <a:noFill/>
        </p:spPr>
        <p:txBody>
          <a:bodyPr wrap="square" lIns="0" rIns="0" tIns="0" bIns="0" anchor="t">
            <a:spAutoFit/>
          </a:bodyPr>
          <a:lstStyle/>
          <a:p>
            <a:pPr algn="l">
              <a:lnSpc>
                <a:spcPct val="115000"/>
              </a:lnSpc>
            </a:pPr>
            <a:r>
              <a:rPr sz="1600" b="0">
                <a:solidFill>
                  <a:srgbClr val="445266"/>
                </a:solidFill>
                <a:latin typeface="Arial"/>
              </a:rPr>
              <a:t>The buyer cannot see who did what, or what each part cost.</a:t>
            </a:r>
          </a:p>
        </p:txBody>
      </p:sp>
      <p:sp>
        <p:nvSpPr>
          <p:cNvPr id="17" name="TextBox 16"/>
          <p:cNvSpPr txBox="1"/>
          <p:nvPr/>
        </p:nvSpPr>
        <p:spPr>
          <a:xfrm>
            <a:off x="731520" y="6419088"/>
            <a:ext cx="5486400" cy="228600"/>
          </a:xfrm>
          <a:prstGeom prst="rect">
            <a:avLst/>
          </a:prstGeom>
          <a:noFill/>
        </p:spPr>
        <p:txBody>
          <a:bodyPr wrap="square" lIns="0" rIns="0" tIns="0" bIns="0" anchor="t">
            <a:spAutoFit/>
          </a:bodyPr>
          <a:lstStyle/>
          <a:p>
            <a:pPr algn="l">
              <a:lnSpc>
                <a:spcPct val="115000"/>
              </a:lnSpc>
            </a:pPr>
            <a:r>
              <a:rPr sz="1050" b="1">
                <a:solidFill>
                  <a:srgbClr val="5F6B7C"/>
                </a:solidFill>
                <a:latin typeface="Arial"/>
              </a:rPr>
              <a:t>Cascade</a:t>
            </a:r>
          </a:p>
        </p:txBody>
      </p:sp>
      <p:sp>
        <p:nvSpPr>
          <p:cNvPr id="18" name="TextBox 17"/>
          <p:cNvSpPr txBox="1"/>
          <p:nvPr/>
        </p:nvSpPr>
        <p:spPr>
          <a:xfrm>
            <a:off x="10545775" y="6419088"/>
            <a:ext cx="914400" cy="228600"/>
          </a:xfrm>
          <a:prstGeom prst="rect">
            <a:avLst/>
          </a:prstGeom>
          <a:noFill/>
        </p:spPr>
        <p:txBody>
          <a:bodyPr wrap="square" lIns="0" rIns="0" tIns="0" bIns="0" anchor="t">
            <a:spAutoFit/>
          </a:bodyPr>
          <a:lstStyle/>
          <a:p>
            <a:pPr algn="r">
              <a:lnSpc>
                <a:spcPct val="115000"/>
              </a:lnSpc>
            </a:pPr>
            <a:r>
              <a:rPr sz="1050" b="0">
                <a:solidFill>
                  <a:srgbClr val="5F6B7C"/>
                </a:solidFill>
                <a:latin typeface="Courier New"/>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TextBox 1"/>
          <p:cNvSpPr txBox="1"/>
          <p:nvPr/>
        </p:nvSpPr>
        <p:spPr>
          <a:xfrm>
            <a:off x="731520" y="566928"/>
            <a:ext cx="7315200" cy="274320"/>
          </a:xfrm>
          <a:prstGeom prst="rect">
            <a:avLst/>
          </a:prstGeom>
          <a:noFill/>
        </p:spPr>
        <p:txBody>
          <a:bodyPr wrap="square" lIns="0" rIns="0" tIns="0" bIns="0" anchor="t">
            <a:spAutoFit/>
          </a:bodyPr>
          <a:lstStyle/>
          <a:p>
            <a:pPr algn="l">
              <a:lnSpc>
                <a:spcPct val="115000"/>
              </a:lnSpc>
            </a:pPr>
            <a:r>
              <a:rPr sz="1100" b="1" spc="120">
                <a:solidFill>
                  <a:srgbClr val="5F6B7C"/>
                </a:solidFill>
                <a:latin typeface="Arial"/>
              </a:rPr>
              <a:t>THE SOLUTION: AN ESCROW TREE</a:t>
            </a:r>
          </a:p>
        </p:txBody>
      </p:sp>
      <p:sp>
        <p:nvSpPr>
          <p:cNvPr id="3" name="TextBox 2"/>
          <p:cNvSpPr txBox="1"/>
          <p:nvPr/>
        </p:nvSpPr>
        <p:spPr>
          <a:xfrm>
            <a:off x="731520" y="841248"/>
            <a:ext cx="10424160" cy="1097280"/>
          </a:xfrm>
          <a:prstGeom prst="rect">
            <a:avLst/>
          </a:prstGeom>
          <a:noFill/>
        </p:spPr>
        <p:txBody>
          <a:bodyPr wrap="square" lIns="0" rIns="0" tIns="0" bIns="0" anchor="t">
            <a:spAutoFit/>
          </a:bodyPr>
          <a:lstStyle/>
          <a:p>
            <a:pPr algn="l">
              <a:lnSpc>
                <a:spcPct val="105000"/>
              </a:lnSpc>
            </a:pPr>
            <a:r>
              <a:rPr sz="3000" b="1">
                <a:solidFill>
                  <a:srgbClr val="0D1826"/>
                </a:solidFill>
                <a:latin typeface="Arial"/>
              </a:rPr>
              <a:t>One payment. Each hire draws its own child escrow.</a:t>
            </a:r>
          </a:p>
        </p:txBody>
      </p:sp>
      <p:sp>
        <p:nvSpPr>
          <p:cNvPr id="4" name="Rounded Rectangle 3"/>
          <p:cNvSpPr/>
          <p:nvPr/>
        </p:nvSpPr>
        <p:spPr>
          <a:xfrm>
            <a:off x="5184648" y="2011680"/>
            <a:ext cx="1828800" cy="548640"/>
          </a:xfrm>
          <a:prstGeom prst="roundRect">
            <a:avLst>
              <a:gd name="adj" fmla="val 13333"/>
            </a:avLst>
          </a:prstGeom>
          <a:solidFill>
            <a:srgbClr val="E7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5" name="Rounded Rectangle 4"/>
          <p:cNvSpPr/>
          <p:nvPr/>
        </p:nvSpPr>
        <p:spPr>
          <a:xfrm>
            <a:off x="5184648" y="2084832"/>
            <a:ext cx="54864" cy="402335"/>
          </a:xfrm>
          <a:prstGeom prst="roundRect">
            <a:avLst>
              <a:gd name="adj" fmla="val 50000"/>
            </a:avLst>
          </a:prstGeom>
          <a:solidFill>
            <a:srgbClr val="1D5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6" name="TextBox 5"/>
          <p:cNvSpPr txBox="1"/>
          <p:nvPr/>
        </p:nvSpPr>
        <p:spPr>
          <a:xfrm>
            <a:off x="5349240" y="2066544"/>
            <a:ext cx="1591056" cy="301752"/>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Buyer</a:t>
            </a:r>
          </a:p>
        </p:txBody>
      </p:sp>
      <p:sp>
        <p:nvSpPr>
          <p:cNvPr id="7" name="TextBox 6"/>
          <p:cNvSpPr txBox="1"/>
          <p:nvPr/>
        </p:nvSpPr>
        <p:spPr>
          <a:xfrm>
            <a:off x="5349240" y="2296972"/>
            <a:ext cx="1591056" cy="230428"/>
          </a:xfrm>
          <a:prstGeom prst="rect">
            <a:avLst/>
          </a:prstGeom>
          <a:noFill/>
        </p:spPr>
        <p:txBody>
          <a:bodyPr wrap="square" lIns="0" rIns="0" tIns="0" bIns="0" anchor="t">
            <a:spAutoFit/>
          </a:bodyPr>
          <a:lstStyle/>
          <a:p>
            <a:pPr algn="l">
              <a:lnSpc>
                <a:spcPct val="115000"/>
              </a:lnSpc>
            </a:pPr>
            <a:r>
              <a:rPr sz="1050" b="0">
                <a:solidFill>
                  <a:srgbClr val="1D56D8"/>
                </a:solidFill>
                <a:latin typeface="Arial"/>
              </a:rPr>
              <a:t>one signature</a:t>
            </a:r>
          </a:p>
        </p:txBody>
      </p:sp>
      <p:cxnSp>
        <p:nvCxnSpPr>
          <p:cNvPr id="8" name="Connector 7"/>
          <p:cNvCxnSpPr/>
          <p:nvPr/>
        </p:nvCxnSpPr>
        <p:spPr>
          <a:xfrm>
            <a:off x="6099048" y="2560320"/>
            <a:ext cx="0" cy="320040"/>
          </a:xfrm>
          <a:prstGeom prst="line">
            <a:avLst/>
          </a:prstGeom>
          <a:ln w="19050">
            <a:solidFill>
              <a:srgbClr val="5F6B7C"/>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727448" y="2880360"/>
            <a:ext cx="2743200" cy="603504"/>
          </a:xfrm>
          <a:prstGeom prst="roundRect">
            <a:avLst>
              <a:gd name="adj" fmla="val 12121"/>
            </a:avLst>
          </a:prstGeom>
          <a:solidFill>
            <a:srgbClr val="E7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0" name="Rounded Rectangle 9"/>
          <p:cNvSpPr/>
          <p:nvPr/>
        </p:nvSpPr>
        <p:spPr>
          <a:xfrm>
            <a:off x="4727448" y="2953512"/>
            <a:ext cx="54864" cy="457200"/>
          </a:xfrm>
          <a:prstGeom prst="roundRect">
            <a:avLst>
              <a:gd name="adj" fmla="val 50000"/>
            </a:avLst>
          </a:prstGeom>
          <a:solidFill>
            <a:srgbClr val="1D5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4892040" y="2935224"/>
            <a:ext cx="2505456" cy="331927"/>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Conductor</a:t>
            </a:r>
          </a:p>
        </p:txBody>
      </p:sp>
      <p:sp>
        <p:nvSpPr>
          <p:cNvPr id="12" name="TextBox 11"/>
          <p:cNvSpPr txBox="1"/>
          <p:nvPr/>
        </p:nvSpPr>
        <p:spPr>
          <a:xfrm>
            <a:off x="4892040" y="3194182"/>
            <a:ext cx="2505456" cy="253471"/>
          </a:xfrm>
          <a:prstGeom prst="rect">
            <a:avLst/>
          </a:prstGeom>
          <a:noFill/>
        </p:spPr>
        <p:txBody>
          <a:bodyPr wrap="square" lIns="0" rIns="0" tIns="0" bIns="0" anchor="t">
            <a:spAutoFit/>
          </a:bodyPr>
          <a:lstStyle/>
          <a:p>
            <a:pPr algn="l">
              <a:lnSpc>
                <a:spcPct val="115000"/>
              </a:lnSpc>
            </a:pPr>
            <a:r>
              <a:rPr sz="1050" b="0">
                <a:solidFill>
                  <a:srgbClr val="1D56D8"/>
                </a:solidFill>
                <a:latin typeface="Arial"/>
              </a:rPr>
              <a:t>root escrow, plan as a Merkle root</a:t>
            </a:r>
          </a:p>
        </p:txBody>
      </p:sp>
      <p:cxnSp>
        <p:nvCxnSpPr>
          <p:cNvPr id="13" name="Connector 12"/>
          <p:cNvCxnSpPr/>
          <p:nvPr/>
        </p:nvCxnSpPr>
        <p:spPr>
          <a:xfrm>
            <a:off x="6099048" y="3483864"/>
            <a:ext cx="0" cy="201168"/>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536192" y="3685032"/>
            <a:ext cx="4562856" cy="0"/>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536192" y="3685032"/>
            <a:ext cx="0" cy="201168"/>
          </a:xfrm>
          <a:prstGeom prst="line">
            <a:avLst/>
          </a:prstGeom>
          <a:ln w="15875">
            <a:solidFill>
              <a:srgbClr val="C3CCD7"/>
            </a:solidFill>
            <a:tailEnd type="triangle" w="med" h="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1520" y="3886200"/>
            <a:ext cx="1609344" cy="640080"/>
          </a:xfrm>
          <a:prstGeom prst="roundRect">
            <a:avLst>
              <a:gd name="adj" fmla="val 11428"/>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7" name="Rounded Rectangle 16"/>
          <p:cNvSpPr/>
          <p:nvPr/>
        </p:nvSpPr>
        <p:spPr>
          <a:xfrm>
            <a:off x="731520" y="3959352"/>
            <a:ext cx="54864" cy="493775"/>
          </a:xfrm>
          <a:prstGeom prst="roundRect">
            <a:avLst>
              <a:gd name="adj" fmla="val 50000"/>
            </a:avLst>
          </a:prstGeom>
          <a:solidFill>
            <a:srgbClr val="13773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8" name="TextBox 17"/>
          <p:cNvSpPr txBox="1"/>
          <p:nvPr/>
        </p:nvSpPr>
        <p:spPr>
          <a:xfrm>
            <a:off x="896112" y="3941063"/>
            <a:ext cx="1371600" cy="352044"/>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Scout</a:t>
            </a:r>
          </a:p>
        </p:txBody>
      </p:sp>
      <p:sp>
        <p:nvSpPr>
          <p:cNvPr id="19" name="TextBox 18"/>
          <p:cNvSpPr txBox="1"/>
          <p:nvPr/>
        </p:nvSpPr>
        <p:spPr>
          <a:xfrm>
            <a:off x="896112" y="4219041"/>
            <a:ext cx="1371600" cy="268833"/>
          </a:xfrm>
          <a:prstGeom prst="rect">
            <a:avLst/>
          </a:prstGeom>
          <a:noFill/>
        </p:spPr>
        <p:txBody>
          <a:bodyPr wrap="square" lIns="0" rIns="0" tIns="0" bIns="0" anchor="t">
            <a:spAutoFit/>
          </a:bodyPr>
          <a:lstStyle/>
          <a:p>
            <a:pPr algn="l">
              <a:lnSpc>
                <a:spcPct val="115000"/>
              </a:lnSpc>
            </a:pPr>
            <a:r>
              <a:rPr sz="1050" b="0">
                <a:solidFill>
                  <a:srgbClr val="13773A"/>
                </a:solidFill>
                <a:latin typeface="Arial"/>
              </a:rPr>
              <a:t>hires its own child</a:t>
            </a:r>
          </a:p>
        </p:txBody>
      </p:sp>
      <p:cxnSp>
        <p:nvCxnSpPr>
          <p:cNvPr id="20" name="Connector 19"/>
          <p:cNvCxnSpPr/>
          <p:nvPr/>
        </p:nvCxnSpPr>
        <p:spPr>
          <a:xfrm>
            <a:off x="6099048" y="3483864"/>
            <a:ext cx="0" cy="201168"/>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360054" y="3685032"/>
            <a:ext cx="2738994" cy="0"/>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360054" y="3685032"/>
            <a:ext cx="0" cy="201168"/>
          </a:xfrm>
          <a:prstGeom prst="line">
            <a:avLst/>
          </a:prstGeom>
          <a:ln w="15875">
            <a:solidFill>
              <a:srgbClr val="C3CCD7"/>
            </a:solidFill>
            <a:tailEnd type="triangle" w="med" h="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555382" y="3886200"/>
            <a:ext cx="1609344" cy="640080"/>
          </a:xfrm>
          <a:prstGeom prst="roundRect">
            <a:avLst>
              <a:gd name="adj" fmla="val 11428"/>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4" name="Rounded Rectangle 23"/>
          <p:cNvSpPr/>
          <p:nvPr/>
        </p:nvSpPr>
        <p:spPr>
          <a:xfrm>
            <a:off x="2555382" y="3959352"/>
            <a:ext cx="54864" cy="493775"/>
          </a:xfrm>
          <a:prstGeom prst="roundRect">
            <a:avLst>
              <a:gd name="adj" fmla="val 50000"/>
            </a:avLst>
          </a:prstGeom>
          <a:solidFill>
            <a:srgbClr val="525D6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5" name="TextBox 24"/>
          <p:cNvSpPr txBox="1"/>
          <p:nvPr/>
        </p:nvSpPr>
        <p:spPr>
          <a:xfrm>
            <a:off x="2719974" y="3941063"/>
            <a:ext cx="1371600" cy="352044"/>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Flaky Lisan</a:t>
            </a:r>
          </a:p>
        </p:txBody>
      </p:sp>
      <p:sp>
        <p:nvSpPr>
          <p:cNvPr id="26" name="TextBox 25"/>
          <p:cNvSpPr txBox="1"/>
          <p:nvPr/>
        </p:nvSpPr>
        <p:spPr>
          <a:xfrm>
            <a:off x="2719974" y="4219041"/>
            <a:ext cx="1371600" cy="268833"/>
          </a:xfrm>
          <a:prstGeom prst="rect">
            <a:avLst/>
          </a:prstGeom>
          <a:noFill/>
        </p:spPr>
        <p:txBody>
          <a:bodyPr wrap="square" lIns="0" rIns="0" tIns="0" bIns="0" anchor="t">
            <a:spAutoFit/>
          </a:bodyPr>
          <a:lstStyle/>
          <a:p>
            <a:pPr algn="l">
              <a:lnSpc>
                <a:spcPct val="115000"/>
              </a:lnSpc>
            </a:pPr>
            <a:r>
              <a:rPr sz="1050" b="0">
                <a:solidFill>
                  <a:srgbClr val="525D6B"/>
                </a:solidFill>
                <a:latin typeface="Arial"/>
              </a:rPr>
              <a:t>test agent, refunded</a:t>
            </a:r>
          </a:p>
        </p:txBody>
      </p:sp>
      <p:cxnSp>
        <p:nvCxnSpPr>
          <p:cNvPr id="27" name="Connector 26"/>
          <p:cNvCxnSpPr/>
          <p:nvPr/>
        </p:nvCxnSpPr>
        <p:spPr>
          <a:xfrm>
            <a:off x="6099048" y="3483864"/>
            <a:ext cx="0" cy="201168"/>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5183916" y="3685032"/>
            <a:ext cx="915132" cy="0"/>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83916" y="3685032"/>
            <a:ext cx="0" cy="201168"/>
          </a:xfrm>
          <a:prstGeom prst="line">
            <a:avLst/>
          </a:prstGeom>
          <a:ln w="15875">
            <a:solidFill>
              <a:srgbClr val="C3CCD7"/>
            </a:solidFill>
            <a:tailEnd type="triangle" w="med" h="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379244" y="3886200"/>
            <a:ext cx="1609344" cy="640080"/>
          </a:xfrm>
          <a:prstGeom prst="roundRect">
            <a:avLst>
              <a:gd name="adj" fmla="val 11428"/>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1" name="Rounded Rectangle 30"/>
          <p:cNvSpPr/>
          <p:nvPr/>
        </p:nvSpPr>
        <p:spPr>
          <a:xfrm>
            <a:off x="4379244" y="3959352"/>
            <a:ext cx="54864" cy="493775"/>
          </a:xfrm>
          <a:prstGeom prst="roundRect">
            <a:avLst>
              <a:gd name="adj" fmla="val 50000"/>
            </a:avLst>
          </a:prstGeom>
          <a:solidFill>
            <a:srgbClr val="13773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2" name="TextBox 31"/>
          <p:cNvSpPr txBox="1"/>
          <p:nvPr/>
        </p:nvSpPr>
        <p:spPr>
          <a:xfrm>
            <a:off x="4543836" y="3941063"/>
            <a:ext cx="1371600" cy="352044"/>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Lisan</a:t>
            </a:r>
          </a:p>
        </p:txBody>
      </p:sp>
      <p:sp>
        <p:nvSpPr>
          <p:cNvPr id="33" name="TextBox 32"/>
          <p:cNvSpPr txBox="1"/>
          <p:nvPr/>
        </p:nvSpPr>
        <p:spPr>
          <a:xfrm>
            <a:off x="4543836" y="4219041"/>
            <a:ext cx="1371600" cy="268833"/>
          </a:xfrm>
          <a:prstGeom prst="rect">
            <a:avLst/>
          </a:prstGeom>
          <a:noFill/>
        </p:spPr>
        <p:txBody>
          <a:bodyPr wrap="square" lIns="0" rIns="0" tIns="0" bIns="0" anchor="t">
            <a:spAutoFit/>
          </a:bodyPr>
          <a:lstStyle/>
          <a:p>
            <a:pPr algn="l">
              <a:lnSpc>
                <a:spcPct val="115000"/>
              </a:lnSpc>
            </a:pPr>
            <a:r>
              <a:rPr sz="1050" b="0">
                <a:solidFill>
                  <a:srgbClr val="13773A"/>
                </a:solidFill>
                <a:latin typeface="Arial"/>
              </a:rPr>
              <a:t>Masumi agent</a:t>
            </a:r>
          </a:p>
        </p:txBody>
      </p:sp>
      <p:cxnSp>
        <p:nvCxnSpPr>
          <p:cNvPr id="34" name="Connector 33"/>
          <p:cNvCxnSpPr/>
          <p:nvPr/>
        </p:nvCxnSpPr>
        <p:spPr>
          <a:xfrm>
            <a:off x="6099048" y="3483864"/>
            <a:ext cx="0" cy="201168"/>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099048" y="3685032"/>
            <a:ext cx="908730" cy="0"/>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007778" y="3685032"/>
            <a:ext cx="0" cy="201168"/>
          </a:xfrm>
          <a:prstGeom prst="line">
            <a:avLst/>
          </a:prstGeom>
          <a:ln w="15875">
            <a:solidFill>
              <a:srgbClr val="C3CCD7"/>
            </a:solidFill>
            <a:tailEnd type="triangle" w="med" h="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203106" y="3886200"/>
            <a:ext cx="1609344" cy="640080"/>
          </a:xfrm>
          <a:prstGeom prst="roundRect">
            <a:avLst>
              <a:gd name="adj" fmla="val 11428"/>
            </a:avLst>
          </a:prstGeom>
          <a:solidFill>
            <a:srgbClr val="F0EA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8" name="Rounded Rectangle 37"/>
          <p:cNvSpPr/>
          <p:nvPr/>
        </p:nvSpPr>
        <p:spPr>
          <a:xfrm>
            <a:off x="6203106" y="3959352"/>
            <a:ext cx="54864" cy="493775"/>
          </a:xfrm>
          <a:prstGeom prst="roundRect">
            <a:avLst>
              <a:gd name="adj" fmla="val 50000"/>
            </a:avLst>
          </a:prstGeom>
          <a:solidFill>
            <a:srgbClr val="6337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9" name="TextBox 38"/>
          <p:cNvSpPr txBox="1"/>
          <p:nvPr/>
        </p:nvSpPr>
        <p:spPr>
          <a:xfrm>
            <a:off x="6367698" y="3941063"/>
            <a:ext cx="1371600" cy="352044"/>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Checker A</a:t>
            </a:r>
          </a:p>
        </p:txBody>
      </p:sp>
      <p:sp>
        <p:nvSpPr>
          <p:cNvPr id="40" name="TextBox 39"/>
          <p:cNvSpPr txBox="1"/>
          <p:nvPr/>
        </p:nvSpPr>
        <p:spPr>
          <a:xfrm>
            <a:off x="6367698" y="4219041"/>
            <a:ext cx="1371600" cy="268833"/>
          </a:xfrm>
          <a:prstGeom prst="rect">
            <a:avLst/>
          </a:prstGeom>
          <a:noFill/>
        </p:spPr>
        <p:txBody>
          <a:bodyPr wrap="square" lIns="0" rIns="0" tIns="0" bIns="0" anchor="t">
            <a:spAutoFit/>
          </a:bodyPr>
          <a:lstStyle/>
          <a:p>
            <a:pPr algn="l">
              <a:lnSpc>
                <a:spcPct val="115000"/>
              </a:lnSpc>
            </a:pPr>
            <a:r>
              <a:rPr sz="1050" b="0">
                <a:solidFill>
                  <a:srgbClr val="6337C4"/>
                </a:solidFill>
                <a:latin typeface="Arial"/>
              </a:rPr>
              <a:t>verifier</a:t>
            </a:r>
          </a:p>
        </p:txBody>
      </p:sp>
      <p:cxnSp>
        <p:nvCxnSpPr>
          <p:cNvPr id="41" name="Connector 40"/>
          <p:cNvCxnSpPr/>
          <p:nvPr/>
        </p:nvCxnSpPr>
        <p:spPr>
          <a:xfrm>
            <a:off x="6099048" y="3483864"/>
            <a:ext cx="0" cy="201168"/>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099048" y="3685032"/>
            <a:ext cx="2732592" cy="0"/>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831640" y="3685032"/>
            <a:ext cx="0" cy="201168"/>
          </a:xfrm>
          <a:prstGeom prst="line">
            <a:avLst/>
          </a:prstGeom>
          <a:ln w="15875">
            <a:solidFill>
              <a:srgbClr val="C3CCD7"/>
            </a:solidFill>
            <a:tailEnd type="triangle" w="med" h="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026968" y="3886200"/>
            <a:ext cx="1609344" cy="640080"/>
          </a:xfrm>
          <a:prstGeom prst="roundRect">
            <a:avLst>
              <a:gd name="adj" fmla="val 11428"/>
            </a:avLst>
          </a:prstGeom>
          <a:solidFill>
            <a:srgbClr val="F0EA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45" name="Rounded Rectangle 44"/>
          <p:cNvSpPr/>
          <p:nvPr/>
        </p:nvSpPr>
        <p:spPr>
          <a:xfrm>
            <a:off x="8026968" y="3959352"/>
            <a:ext cx="54864" cy="493775"/>
          </a:xfrm>
          <a:prstGeom prst="roundRect">
            <a:avLst>
              <a:gd name="adj" fmla="val 50000"/>
            </a:avLst>
          </a:prstGeom>
          <a:solidFill>
            <a:srgbClr val="6337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46" name="TextBox 45"/>
          <p:cNvSpPr txBox="1"/>
          <p:nvPr/>
        </p:nvSpPr>
        <p:spPr>
          <a:xfrm>
            <a:off x="8191560" y="3941063"/>
            <a:ext cx="1371600" cy="352044"/>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Checker B</a:t>
            </a:r>
          </a:p>
        </p:txBody>
      </p:sp>
      <p:sp>
        <p:nvSpPr>
          <p:cNvPr id="47" name="TextBox 46"/>
          <p:cNvSpPr txBox="1"/>
          <p:nvPr/>
        </p:nvSpPr>
        <p:spPr>
          <a:xfrm>
            <a:off x="8191560" y="4219041"/>
            <a:ext cx="1371600" cy="268833"/>
          </a:xfrm>
          <a:prstGeom prst="rect">
            <a:avLst/>
          </a:prstGeom>
          <a:noFill/>
        </p:spPr>
        <p:txBody>
          <a:bodyPr wrap="square" lIns="0" rIns="0" tIns="0" bIns="0" anchor="t">
            <a:spAutoFit/>
          </a:bodyPr>
          <a:lstStyle/>
          <a:p>
            <a:pPr algn="l">
              <a:lnSpc>
                <a:spcPct val="115000"/>
              </a:lnSpc>
            </a:pPr>
            <a:r>
              <a:rPr sz="1050" b="0">
                <a:solidFill>
                  <a:srgbClr val="6337C4"/>
                </a:solidFill>
                <a:latin typeface="Arial"/>
              </a:rPr>
              <a:t>verifier</a:t>
            </a:r>
          </a:p>
        </p:txBody>
      </p:sp>
      <p:cxnSp>
        <p:nvCxnSpPr>
          <p:cNvPr id="48" name="Connector 47"/>
          <p:cNvCxnSpPr/>
          <p:nvPr/>
        </p:nvCxnSpPr>
        <p:spPr>
          <a:xfrm>
            <a:off x="6099048" y="3483864"/>
            <a:ext cx="0" cy="201168"/>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099048" y="3685032"/>
            <a:ext cx="4556455" cy="0"/>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655503" y="3685032"/>
            <a:ext cx="0" cy="201168"/>
          </a:xfrm>
          <a:prstGeom prst="line">
            <a:avLst/>
          </a:prstGeom>
          <a:ln w="15875">
            <a:solidFill>
              <a:srgbClr val="C3CCD7"/>
            </a:solidFill>
            <a:tailEnd type="triangle" w="med" h="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9850831" y="3886200"/>
            <a:ext cx="1609344" cy="640080"/>
          </a:xfrm>
          <a:prstGeom prst="roundRect">
            <a:avLst>
              <a:gd name="adj" fmla="val 11428"/>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52" name="Rounded Rectangle 51"/>
          <p:cNvSpPr/>
          <p:nvPr/>
        </p:nvSpPr>
        <p:spPr>
          <a:xfrm>
            <a:off x="9850831" y="3959352"/>
            <a:ext cx="54864" cy="493775"/>
          </a:xfrm>
          <a:prstGeom prst="roundRect">
            <a:avLst>
              <a:gd name="adj" fmla="val 50000"/>
            </a:avLst>
          </a:prstGeom>
          <a:solidFill>
            <a:srgbClr val="13773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53" name="TextBox 52"/>
          <p:cNvSpPr txBox="1"/>
          <p:nvPr/>
        </p:nvSpPr>
        <p:spPr>
          <a:xfrm>
            <a:off x="10015423" y="3941063"/>
            <a:ext cx="1371600" cy="352044"/>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Scribe</a:t>
            </a:r>
          </a:p>
        </p:txBody>
      </p:sp>
      <p:sp>
        <p:nvSpPr>
          <p:cNvPr id="54" name="TextBox 53"/>
          <p:cNvSpPr txBox="1"/>
          <p:nvPr/>
        </p:nvSpPr>
        <p:spPr>
          <a:xfrm>
            <a:off x="10015423" y="4219041"/>
            <a:ext cx="1371600" cy="268833"/>
          </a:xfrm>
          <a:prstGeom prst="rect">
            <a:avLst/>
          </a:prstGeom>
          <a:noFill/>
        </p:spPr>
        <p:txBody>
          <a:bodyPr wrap="square" lIns="0" rIns="0" tIns="0" bIns="0" anchor="t">
            <a:spAutoFit/>
          </a:bodyPr>
          <a:lstStyle/>
          <a:p>
            <a:pPr algn="l">
              <a:lnSpc>
                <a:spcPct val="115000"/>
              </a:lnSpc>
            </a:pPr>
            <a:r>
              <a:rPr sz="1050" b="0">
                <a:solidFill>
                  <a:srgbClr val="13773A"/>
                </a:solidFill>
                <a:latin typeface="Arial"/>
              </a:rPr>
              <a:t>writes the brief</a:t>
            </a:r>
          </a:p>
        </p:txBody>
      </p:sp>
      <p:cxnSp>
        <p:nvCxnSpPr>
          <p:cNvPr id="55" name="Connector 54"/>
          <p:cNvCxnSpPr/>
          <p:nvPr/>
        </p:nvCxnSpPr>
        <p:spPr>
          <a:xfrm flipV="1">
            <a:off x="3681923" y="3200400"/>
            <a:ext cx="1045525" cy="667512"/>
          </a:xfrm>
          <a:prstGeom prst="line">
            <a:avLst/>
          </a:prstGeom>
          <a:ln w="22225">
            <a:solidFill>
              <a:srgbClr val="525D6B"/>
            </a:solidFill>
            <a:prstDash val="dash"/>
            <a:tailEnd type="triangle" w="med" h="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31520" y="2971800"/>
            <a:ext cx="2377440" cy="274320"/>
          </a:xfrm>
          <a:prstGeom prst="rect">
            <a:avLst/>
          </a:prstGeom>
          <a:noFill/>
        </p:spPr>
        <p:txBody>
          <a:bodyPr wrap="square" lIns="0" rIns="0" tIns="0" bIns="0" anchor="t">
            <a:spAutoFit/>
          </a:bodyPr>
          <a:lstStyle/>
          <a:p>
            <a:pPr algn="l">
              <a:lnSpc>
                <a:spcPct val="115000"/>
              </a:lnSpc>
            </a:pPr>
            <a:r>
              <a:rPr sz="1050" b="1">
                <a:solidFill>
                  <a:srgbClr val="525D6B"/>
                </a:solidFill>
                <a:latin typeface="Arial"/>
              </a:rPr>
              <a:t>refund flows up, re-spent on Lisan</a:t>
            </a:r>
          </a:p>
        </p:txBody>
      </p:sp>
      <p:cxnSp>
        <p:nvCxnSpPr>
          <p:cNvPr id="57" name="Connector 56"/>
          <p:cNvCxnSpPr/>
          <p:nvPr/>
        </p:nvCxnSpPr>
        <p:spPr>
          <a:xfrm>
            <a:off x="1536192" y="4526280"/>
            <a:ext cx="0" cy="228600"/>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536192" y="4754880"/>
            <a:ext cx="0" cy="0"/>
          </a:xfrm>
          <a:prstGeom prst="line">
            <a:avLst/>
          </a:prstGeom>
          <a:ln w="15875">
            <a:solidFill>
              <a:srgbClr val="C3CCD7"/>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536192" y="4754880"/>
            <a:ext cx="0" cy="228600"/>
          </a:xfrm>
          <a:prstGeom prst="line">
            <a:avLst/>
          </a:prstGeom>
          <a:ln w="15875">
            <a:solidFill>
              <a:srgbClr val="C3CCD7"/>
            </a:solidFill>
            <a:tailEnd type="triangle" w="med" h="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731520" y="4983480"/>
            <a:ext cx="1609344" cy="640080"/>
          </a:xfrm>
          <a:prstGeom prst="roundRect">
            <a:avLst>
              <a:gd name="adj" fmla="val 11428"/>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61" name="Rounded Rectangle 60"/>
          <p:cNvSpPr/>
          <p:nvPr/>
        </p:nvSpPr>
        <p:spPr>
          <a:xfrm>
            <a:off x="731520" y="5056632"/>
            <a:ext cx="54864" cy="493775"/>
          </a:xfrm>
          <a:prstGeom prst="roundRect">
            <a:avLst>
              <a:gd name="adj" fmla="val 50000"/>
            </a:avLst>
          </a:prstGeom>
          <a:solidFill>
            <a:srgbClr val="13773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62" name="TextBox 61"/>
          <p:cNvSpPr txBox="1"/>
          <p:nvPr/>
        </p:nvSpPr>
        <p:spPr>
          <a:xfrm>
            <a:off x="896112" y="5038344"/>
            <a:ext cx="1371600" cy="352044"/>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Pricer</a:t>
            </a:r>
          </a:p>
        </p:txBody>
      </p:sp>
      <p:sp>
        <p:nvSpPr>
          <p:cNvPr id="63" name="TextBox 62"/>
          <p:cNvSpPr txBox="1"/>
          <p:nvPr/>
        </p:nvSpPr>
        <p:spPr>
          <a:xfrm>
            <a:off x="896112" y="5316321"/>
            <a:ext cx="1371600" cy="268833"/>
          </a:xfrm>
          <a:prstGeom prst="rect">
            <a:avLst/>
          </a:prstGeom>
          <a:noFill/>
        </p:spPr>
        <p:txBody>
          <a:bodyPr wrap="square" lIns="0" rIns="0" tIns="0" bIns="0" anchor="t">
            <a:spAutoFit/>
          </a:bodyPr>
          <a:lstStyle/>
          <a:p>
            <a:pPr algn="l">
              <a:lnSpc>
                <a:spcPct val="115000"/>
              </a:lnSpc>
            </a:pPr>
            <a:r>
              <a:rPr sz="1050" b="0">
                <a:solidFill>
                  <a:srgbClr val="13773A"/>
                </a:solidFill>
                <a:latin typeface="Arial"/>
              </a:rPr>
              <a:t>depth 2</a:t>
            </a:r>
          </a:p>
        </p:txBody>
      </p:sp>
      <p:sp>
        <p:nvSpPr>
          <p:cNvPr id="64" name="TextBox 63"/>
          <p:cNvSpPr txBox="1"/>
          <p:nvPr/>
        </p:nvSpPr>
        <p:spPr>
          <a:xfrm>
            <a:off x="3291840" y="4965192"/>
            <a:ext cx="8168335" cy="822960"/>
          </a:xfrm>
          <a:prstGeom prst="rect">
            <a:avLst/>
          </a:prstGeom>
          <a:noFill/>
        </p:spPr>
        <p:txBody>
          <a:bodyPr wrap="square" lIns="0" rIns="0" tIns="0" bIns="0" anchor="t">
            <a:spAutoFit/>
          </a:bodyPr>
          <a:lstStyle/>
          <a:p>
            <a:pPr algn="l">
              <a:lnSpc>
                <a:spcPct val="130000"/>
              </a:lnSpc>
            </a:pPr>
            <a:r>
              <a:rPr sz="1500" b="0">
                <a:solidFill>
                  <a:srgbClr val="445266"/>
                </a:solidFill>
                <a:latin typeface="Arial"/>
              </a:rPr>
              <a:t>Validators enforce budgets, nested deadlines and plan membership. A missed deadline refunds up the tree, and the budget is re-spent on a replacement.</a:t>
            </a:r>
          </a:p>
        </p:txBody>
      </p:sp>
      <p:sp>
        <p:nvSpPr>
          <p:cNvPr id="65" name="TextBox 64"/>
          <p:cNvSpPr txBox="1"/>
          <p:nvPr/>
        </p:nvSpPr>
        <p:spPr>
          <a:xfrm>
            <a:off x="731520" y="6419088"/>
            <a:ext cx="5486400" cy="228600"/>
          </a:xfrm>
          <a:prstGeom prst="rect">
            <a:avLst/>
          </a:prstGeom>
          <a:noFill/>
        </p:spPr>
        <p:txBody>
          <a:bodyPr wrap="square" lIns="0" rIns="0" tIns="0" bIns="0" anchor="t">
            <a:spAutoFit/>
          </a:bodyPr>
          <a:lstStyle/>
          <a:p>
            <a:pPr algn="l">
              <a:lnSpc>
                <a:spcPct val="115000"/>
              </a:lnSpc>
            </a:pPr>
            <a:r>
              <a:rPr sz="1050" b="1">
                <a:solidFill>
                  <a:srgbClr val="5F6B7C"/>
                </a:solidFill>
                <a:latin typeface="Arial"/>
              </a:rPr>
              <a:t>Cascade</a:t>
            </a:r>
          </a:p>
        </p:txBody>
      </p:sp>
      <p:sp>
        <p:nvSpPr>
          <p:cNvPr id="66" name="TextBox 65"/>
          <p:cNvSpPr txBox="1"/>
          <p:nvPr/>
        </p:nvSpPr>
        <p:spPr>
          <a:xfrm>
            <a:off x="10545775" y="6419088"/>
            <a:ext cx="914400" cy="228600"/>
          </a:xfrm>
          <a:prstGeom prst="rect">
            <a:avLst/>
          </a:prstGeom>
          <a:noFill/>
        </p:spPr>
        <p:txBody>
          <a:bodyPr wrap="square" lIns="0" rIns="0" tIns="0" bIns="0" anchor="t">
            <a:spAutoFit/>
          </a:bodyPr>
          <a:lstStyle/>
          <a:p>
            <a:pPr algn="r">
              <a:lnSpc>
                <a:spcPct val="115000"/>
              </a:lnSpc>
            </a:pPr>
            <a:r>
              <a:rPr sz="1050" b="0">
                <a:solidFill>
                  <a:srgbClr val="5F6B7C"/>
                </a:solidFill>
                <a:latin typeface="Courier New"/>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826"/>
        </a:solidFill>
        <a:effectLst/>
      </p:bgPr>
    </p:bg>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lIns="0" rIns="0" tIns="0" bIns="0" anchor="t">
            <a:spAutoFit/>
          </a:bodyPr>
          <a:lstStyle/>
          <a:p>
            <a:pPr algn="l">
              <a:lnSpc>
                <a:spcPct val="115000"/>
              </a:lnSpc>
            </a:pPr>
            <a:r>
              <a:rPr sz="1100" b="1" spc="120">
                <a:solidFill>
                  <a:srgbClr val="A9B6C6"/>
                </a:solidFill>
                <a:latin typeface="Arial"/>
              </a:rPr>
              <a:t>DEMO, RECORDED ON CARDANO PREPROD</a:t>
            </a:r>
          </a:p>
        </p:txBody>
      </p:sp>
      <p:sp>
        <p:nvSpPr>
          <p:cNvPr id="3" name="TextBox 2"/>
          <p:cNvSpPr txBox="1"/>
          <p:nvPr/>
        </p:nvSpPr>
        <p:spPr>
          <a:xfrm>
            <a:off x="731520" y="713232"/>
            <a:ext cx="10728655" cy="548640"/>
          </a:xfrm>
          <a:prstGeom prst="rect">
            <a:avLst/>
          </a:prstGeom>
          <a:noFill/>
        </p:spPr>
        <p:txBody>
          <a:bodyPr wrap="square" lIns="0" rIns="0" tIns="0" bIns="0" anchor="t">
            <a:spAutoFit/>
          </a:bodyPr>
          <a:lstStyle/>
          <a:p>
            <a:pPr algn="l">
              <a:lnSpc>
                <a:spcPct val="115000"/>
              </a:lnSpc>
            </a:pPr>
            <a:r>
              <a:rPr sz="2400" b="1">
                <a:solidFill>
                  <a:srgbClr val="E7EEF6"/>
                </a:solidFill>
                <a:latin typeface="Arial"/>
              </a:rPr>
              <a:t>Sokosumi Task, live Tree Explorer, receipt, Masumi escrow.</a:t>
            </a:r>
          </a:p>
        </p:txBody>
      </p:sp>
      <p:sp>
        <p:nvSpPr>
          <p:cNvPr id="4" name="Rounded Rectangle 3"/>
          <p:cNvSpPr/>
          <p:nvPr/>
        </p:nvSpPr>
        <p:spPr>
          <a:xfrm>
            <a:off x="1798167" y="1417320"/>
            <a:ext cx="8595360" cy="4834890"/>
          </a:xfrm>
          <a:prstGeom prst="roundRect">
            <a:avLst>
              <a:gd name="adj" fmla="val 1891"/>
            </a:avLst>
          </a:prstGeom>
          <a:solidFill>
            <a:srgbClr val="13212F"/>
          </a:solidFill>
          <a:ln w="12700">
            <a:solidFill>
              <a:srgbClr val="2C3E5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5" name="TextBox 4"/>
          <p:cNvSpPr txBox="1"/>
          <p:nvPr/>
        </p:nvSpPr>
        <p:spPr>
          <a:xfrm>
            <a:off x="1798167" y="3423285"/>
            <a:ext cx="8595360" cy="548640"/>
          </a:xfrm>
          <a:prstGeom prst="rect">
            <a:avLst/>
          </a:prstGeom>
          <a:noFill/>
        </p:spPr>
        <p:txBody>
          <a:bodyPr wrap="square" lIns="0" rIns="0" tIns="0" bIns="0" anchor="t">
            <a:spAutoFit/>
          </a:bodyPr>
          <a:lstStyle/>
          <a:p>
            <a:pPr algn="ctr">
              <a:lnSpc>
                <a:spcPct val="115000"/>
              </a:lnSpc>
            </a:pPr>
            <a:r>
              <a:rPr sz="3400" b="1">
                <a:solidFill>
                  <a:srgbClr val="E7EEF6"/>
                </a:solidFill>
                <a:latin typeface="Arial"/>
              </a:rPr>
              <a:t>Demo video</a:t>
            </a:r>
          </a:p>
        </p:txBody>
      </p:sp>
      <p:sp>
        <p:nvSpPr>
          <p:cNvPr id="6" name="TextBox 5"/>
          <p:cNvSpPr txBox="1"/>
          <p:nvPr/>
        </p:nvSpPr>
        <p:spPr>
          <a:xfrm>
            <a:off x="1798167" y="4017645"/>
            <a:ext cx="8595360" cy="365760"/>
          </a:xfrm>
          <a:prstGeom prst="rect">
            <a:avLst/>
          </a:prstGeom>
          <a:noFill/>
        </p:spPr>
        <p:txBody>
          <a:bodyPr wrap="square" lIns="0" rIns="0" tIns="0" bIns="0" anchor="t">
            <a:spAutoFit/>
          </a:bodyPr>
          <a:lstStyle/>
          <a:p>
            <a:pPr algn="ctr">
              <a:lnSpc>
                <a:spcPct val="115000"/>
              </a:lnSpc>
            </a:pPr>
            <a:r>
              <a:rPr sz="1300" b="0">
                <a:solidFill>
                  <a:srgbClr val="A9B6C6"/>
                </a:solidFill>
                <a:latin typeface="Arial"/>
              </a:rPr>
              <a:t>Insert the recording here: Insert &gt; Video &gt; demo/out/cascade-demo.mp4</a:t>
            </a:r>
          </a:p>
        </p:txBody>
      </p:sp>
      <p:sp>
        <p:nvSpPr>
          <p:cNvPr id="7" name="TextBox 6"/>
          <p:cNvSpPr txBox="1"/>
          <p:nvPr/>
        </p:nvSpPr>
        <p:spPr>
          <a:xfrm>
            <a:off x="731520" y="6389370"/>
            <a:ext cx="10728655" cy="274320"/>
          </a:xfrm>
          <a:prstGeom prst="rect">
            <a:avLst/>
          </a:prstGeom>
          <a:noFill/>
        </p:spPr>
        <p:txBody>
          <a:bodyPr wrap="square" lIns="0" rIns="0" tIns="0" bIns="0" anchor="t">
            <a:spAutoFit/>
          </a:bodyPr>
          <a:lstStyle/>
          <a:p>
            <a:pPr algn="ctr">
              <a:lnSpc>
                <a:spcPct val="115000"/>
              </a:lnSpc>
            </a:pPr>
            <a:r>
              <a:rPr sz="1100" b="0">
                <a:solidFill>
                  <a:srgbClr val="A9B6C6"/>
                </a:solidFill>
                <a:latin typeface="Arial"/>
              </a:rPr>
              <a:t>Task </a:t>
            </a:r>
            <a:r>
              <a:rPr sz="1100" b="0">
                <a:solidFill>
                  <a:srgbClr val="E7EEF6"/>
                </a:solidFill>
                <a:latin typeface="Courier New"/>
              </a:rPr>
              <a:t>01a110e2-b1ca-752c-bc65-123cd12ae594</a:t>
            </a:r>
            <a:r>
              <a:rPr sz="1100" b="0">
                <a:solidFill>
                  <a:srgbClr val="A9B6C6"/>
                </a:solidFill>
                <a:latin typeface="Arial"/>
              </a:rPr>
              <a:t>   Flaky Lisan is a test agent that fails on purpose.</a:t>
            </a:r>
          </a:p>
        </p:txBody>
      </p:sp>
      <p:sp>
        <p:nvSpPr>
          <p:cNvPr id="8" name="TextBox 7"/>
          <p:cNvSpPr txBox="1"/>
          <p:nvPr/>
        </p:nvSpPr>
        <p:spPr>
          <a:xfrm>
            <a:off x="731520" y="6419088"/>
            <a:ext cx="5486400" cy="228600"/>
          </a:xfrm>
          <a:prstGeom prst="rect">
            <a:avLst/>
          </a:prstGeom>
          <a:noFill/>
        </p:spPr>
        <p:txBody>
          <a:bodyPr wrap="square" lIns="0" rIns="0" tIns="0" bIns="0" anchor="t">
            <a:spAutoFit/>
          </a:bodyPr>
          <a:lstStyle/>
          <a:p>
            <a:pPr algn="l">
              <a:lnSpc>
                <a:spcPct val="115000"/>
              </a:lnSpc>
            </a:pPr>
            <a:r>
              <a:rPr sz="1050" b="1">
                <a:solidFill>
                  <a:srgbClr val="A9B6C6"/>
                </a:solidFill>
                <a:latin typeface="Arial"/>
              </a:rPr>
              <a:t>Cascade</a:t>
            </a:r>
          </a:p>
        </p:txBody>
      </p:sp>
      <p:sp>
        <p:nvSpPr>
          <p:cNvPr id="9" name="TextBox 8"/>
          <p:cNvSpPr txBox="1"/>
          <p:nvPr/>
        </p:nvSpPr>
        <p:spPr>
          <a:xfrm>
            <a:off x="10545775" y="6419088"/>
            <a:ext cx="914400" cy="228600"/>
          </a:xfrm>
          <a:prstGeom prst="rect">
            <a:avLst/>
          </a:prstGeom>
          <a:noFill/>
        </p:spPr>
        <p:txBody>
          <a:bodyPr wrap="square" lIns="0" rIns="0" tIns="0" bIns="0" anchor="t">
            <a:spAutoFit/>
          </a:bodyPr>
          <a:lstStyle/>
          <a:p>
            <a:pPr algn="r">
              <a:lnSpc>
                <a:spcPct val="115000"/>
              </a:lnSpc>
            </a:pPr>
            <a:r>
              <a:rPr sz="1050" b="0">
                <a:solidFill>
                  <a:srgbClr val="A9B6C6"/>
                </a:solidFill>
                <a:latin typeface="Courier New"/>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TextBox 1"/>
          <p:cNvSpPr txBox="1"/>
          <p:nvPr/>
        </p:nvSpPr>
        <p:spPr>
          <a:xfrm>
            <a:off x="731520" y="566928"/>
            <a:ext cx="7315200" cy="274320"/>
          </a:xfrm>
          <a:prstGeom prst="rect">
            <a:avLst/>
          </a:prstGeom>
          <a:noFill/>
        </p:spPr>
        <p:txBody>
          <a:bodyPr wrap="square" lIns="0" rIns="0" tIns="0" bIns="0" anchor="t">
            <a:spAutoFit/>
          </a:bodyPr>
          <a:lstStyle/>
          <a:p>
            <a:pPr algn="l">
              <a:lnSpc>
                <a:spcPct val="115000"/>
              </a:lnSpc>
            </a:pPr>
            <a:r>
              <a:rPr sz="1100" b="1" spc="120">
                <a:solidFill>
                  <a:srgbClr val="5F6B7C"/>
                </a:solidFill>
                <a:latin typeface="Arial"/>
              </a:rPr>
              <a:t>BUILT ON MASUMI, SOKOSUMI AND X402</a:t>
            </a:r>
          </a:p>
        </p:txBody>
      </p:sp>
      <p:sp>
        <p:nvSpPr>
          <p:cNvPr id="3" name="TextBox 2"/>
          <p:cNvSpPr txBox="1"/>
          <p:nvPr/>
        </p:nvSpPr>
        <p:spPr>
          <a:xfrm>
            <a:off x="731520" y="841248"/>
            <a:ext cx="10728655" cy="1097280"/>
          </a:xfrm>
          <a:prstGeom prst="rect">
            <a:avLst/>
          </a:prstGeom>
          <a:noFill/>
        </p:spPr>
        <p:txBody>
          <a:bodyPr wrap="square" lIns="0" rIns="0" tIns="0" bIns="0" anchor="t">
            <a:spAutoFit/>
          </a:bodyPr>
          <a:lstStyle/>
          <a:p>
            <a:pPr algn="l">
              <a:lnSpc>
                <a:spcPct val="105000"/>
              </a:lnSpc>
            </a:pPr>
            <a:r>
              <a:rPr sz="3400" b="1">
                <a:solidFill>
                  <a:srgbClr val="0D1826"/>
                </a:solidFill>
                <a:latin typeface="Arial"/>
              </a:rPr>
              <a:t>Cascade nests the payment rails that exist.</a:t>
            </a:r>
          </a:p>
        </p:txBody>
      </p:sp>
      <p:sp>
        <p:nvSpPr>
          <p:cNvPr id="4" name="Rectangle 3"/>
          <p:cNvSpPr/>
          <p:nvPr/>
        </p:nvSpPr>
        <p:spPr>
          <a:xfrm>
            <a:off x="731520" y="1920240"/>
            <a:ext cx="384048" cy="54864"/>
          </a:xfrm>
          <a:prstGeom prst="rect">
            <a:avLst/>
          </a:prstGeom>
          <a:solidFill>
            <a:srgbClr val="1D5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5" name="TextBox 4"/>
          <p:cNvSpPr txBox="1"/>
          <p:nvPr/>
        </p:nvSpPr>
        <p:spPr>
          <a:xfrm>
            <a:off x="731520" y="2103120"/>
            <a:ext cx="3429000" cy="411480"/>
          </a:xfrm>
          <a:prstGeom prst="rect">
            <a:avLst/>
          </a:prstGeom>
          <a:noFill/>
        </p:spPr>
        <p:txBody>
          <a:bodyPr wrap="square" lIns="0" rIns="0" tIns="0" bIns="0" anchor="t">
            <a:spAutoFit/>
          </a:bodyPr>
          <a:lstStyle/>
          <a:p>
            <a:pPr algn="l">
              <a:lnSpc>
                <a:spcPct val="115000"/>
              </a:lnSpc>
            </a:pPr>
            <a:r>
              <a:rPr sz="2100" b="1">
                <a:solidFill>
                  <a:srgbClr val="0D1826"/>
                </a:solidFill>
                <a:latin typeface="Arial"/>
              </a:rPr>
              <a:t>Sokosumi</a:t>
            </a:r>
          </a:p>
        </p:txBody>
      </p:sp>
      <p:sp>
        <p:nvSpPr>
          <p:cNvPr id="6" name="TextBox 5"/>
          <p:cNvSpPr txBox="1"/>
          <p:nvPr/>
        </p:nvSpPr>
        <p:spPr>
          <a:xfrm>
            <a:off x="731520" y="2560320"/>
            <a:ext cx="3429000" cy="1188720"/>
          </a:xfrm>
          <a:prstGeom prst="rect">
            <a:avLst/>
          </a:prstGeom>
          <a:noFill/>
        </p:spPr>
        <p:txBody>
          <a:bodyPr wrap="square" lIns="0" rIns="0" tIns="0" bIns="0" anchor="t">
            <a:spAutoFit/>
          </a:bodyPr>
          <a:lstStyle/>
          <a:p>
            <a:pPr algn="l">
              <a:lnSpc>
                <a:spcPct val="130000"/>
              </a:lnSpc>
            </a:pPr>
            <a:r>
              <a:rPr sz="1400" b="0">
                <a:solidFill>
                  <a:srgbClr val="445266"/>
                </a:solidFill>
                <a:latin typeface="Arial"/>
              </a:rPr>
              <a:t>Cascade is a Coworker. Tasks are paid with credits into Masumi escrow.</a:t>
            </a:r>
          </a:p>
        </p:txBody>
      </p:sp>
      <p:sp>
        <p:nvSpPr>
          <p:cNvPr id="7" name="Rectangle 6"/>
          <p:cNvSpPr/>
          <p:nvPr/>
        </p:nvSpPr>
        <p:spPr>
          <a:xfrm>
            <a:off x="4379976" y="1920240"/>
            <a:ext cx="384048" cy="54864"/>
          </a:xfrm>
          <a:prstGeom prst="rect">
            <a:avLst/>
          </a:prstGeom>
          <a:solidFill>
            <a:srgbClr val="13773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8" name="TextBox 7"/>
          <p:cNvSpPr txBox="1"/>
          <p:nvPr/>
        </p:nvSpPr>
        <p:spPr>
          <a:xfrm>
            <a:off x="4379976" y="2103120"/>
            <a:ext cx="3429000" cy="411480"/>
          </a:xfrm>
          <a:prstGeom prst="rect">
            <a:avLst/>
          </a:prstGeom>
          <a:noFill/>
        </p:spPr>
        <p:txBody>
          <a:bodyPr wrap="square" lIns="0" rIns="0" tIns="0" bIns="0" anchor="t">
            <a:spAutoFit/>
          </a:bodyPr>
          <a:lstStyle/>
          <a:p>
            <a:pPr algn="l">
              <a:lnSpc>
                <a:spcPct val="115000"/>
              </a:lnSpc>
            </a:pPr>
            <a:r>
              <a:rPr sz="2100" b="1">
                <a:solidFill>
                  <a:srgbClr val="0D1826"/>
                </a:solidFill>
                <a:latin typeface="Arial"/>
              </a:rPr>
              <a:t>Masumi</a:t>
            </a:r>
          </a:p>
        </p:txBody>
      </p:sp>
      <p:sp>
        <p:nvSpPr>
          <p:cNvPr id="9" name="TextBox 8"/>
          <p:cNvSpPr txBox="1"/>
          <p:nvPr/>
        </p:nvSpPr>
        <p:spPr>
          <a:xfrm>
            <a:off x="4379976" y="2560320"/>
            <a:ext cx="3429000" cy="1188720"/>
          </a:xfrm>
          <a:prstGeom prst="rect">
            <a:avLst/>
          </a:prstGeom>
          <a:noFill/>
        </p:spPr>
        <p:txBody>
          <a:bodyPr wrap="square" lIns="0" rIns="0" tIns="0" bIns="0" anchor="t">
            <a:spAutoFit/>
          </a:bodyPr>
          <a:lstStyle/>
          <a:p>
            <a:pPr algn="l">
              <a:lnSpc>
                <a:spcPct val="130000"/>
              </a:lnSpc>
            </a:pPr>
            <a:r>
              <a:rPr sz="1400" b="0">
                <a:solidFill>
                  <a:srgbClr val="445266"/>
                </a:solidFill>
                <a:latin typeface="Arial"/>
              </a:rPr>
              <a:t>Registry identity for the agents and vested_pay escrow. Unmodified Masumi agents are hired through MIP-003, refunds go to the buyer.</a:t>
            </a:r>
          </a:p>
        </p:txBody>
      </p:sp>
      <p:sp>
        <p:nvSpPr>
          <p:cNvPr id="10" name="Rectangle 9"/>
          <p:cNvSpPr/>
          <p:nvPr/>
        </p:nvSpPr>
        <p:spPr>
          <a:xfrm>
            <a:off x="8028432" y="1920240"/>
            <a:ext cx="384048" cy="54864"/>
          </a:xfrm>
          <a:prstGeom prst="rect">
            <a:avLst/>
          </a:prstGeom>
          <a:solidFill>
            <a:srgbClr val="9A4A0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8028432" y="2103120"/>
            <a:ext cx="3429000" cy="411480"/>
          </a:xfrm>
          <a:prstGeom prst="rect">
            <a:avLst/>
          </a:prstGeom>
          <a:noFill/>
        </p:spPr>
        <p:txBody>
          <a:bodyPr wrap="square" lIns="0" rIns="0" tIns="0" bIns="0" anchor="t">
            <a:spAutoFit/>
          </a:bodyPr>
          <a:lstStyle/>
          <a:p>
            <a:pPr algn="l">
              <a:lnSpc>
                <a:spcPct val="115000"/>
              </a:lnSpc>
            </a:pPr>
            <a:r>
              <a:rPr sz="2100" b="1">
                <a:solidFill>
                  <a:srgbClr val="0D1826"/>
                </a:solidFill>
                <a:latin typeface="Arial"/>
              </a:rPr>
              <a:t>x402</a:t>
            </a:r>
          </a:p>
        </p:txBody>
      </p:sp>
      <p:sp>
        <p:nvSpPr>
          <p:cNvPr id="12" name="TextBox 11"/>
          <p:cNvSpPr txBox="1"/>
          <p:nvPr/>
        </p:nvSpPr>
        <p:spPr>
          <a:xfrm>
            <a:off x="8028432" y="2560320"/>
            <a:ext cx="3429000" cy="1188720"/>
          </a:xfrm>
          <a:prstGeom prst="rect">
            <a:avLst/>
          </a:prstGeom>
          <a:noFill/>
        </p:spPr>
        <p:txBody>
          <a:bodyPr wrap="square" lIns="0" rIns="0" tIns="0" bIns="0" anchor="t">
            <a:spAutoFit/>
          </a:bodyPr>
          <a:lstStyle/>
          <a:p>
            <a:pPr algn="l">
              <a:lnSpc>
                <a:spcPct val="130000"/>
              </a:lnSpc>
            </a:pPr>
            <a:r>
              <a:rPr sz="1400" b="0">
                <a:solidFill>
                  <a:srgbClr val="445266"/>
                </a:solidFill>
                <a:latin typeface="Arial"/>
              </a:rPr>
              <a:t>Agents quote and pay each other with HTTP 402. Metered calls settle on vouchers.</a:t>
            </a:r>
          </a:p>
        </p:txBody>
      </p:sp>
      <p:sp>
        <p:nvSpPr>
          <p:cNvPr id="13" name="Rounded Rectangle 12"/>
          <p:cNvSpPr/>
          <p:nvPr/>
        </p:nvSpPr>
        <p:spPr>
          <a:xfrm>
            <a:off x="731520" y="4069080"/>
            <a:ext cx="10728655" cy="1920240"/>
          </a:xfrm>
          <a:prstGeom prst="roundRect">
            <a:avLst>
              <a:gd name="adj" fmla="val 6666"/>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4" name="TextBox 13"/>
          <p:cNvSpPr txBox="1"/>
          <p:nvPr/>
        </p:nvSpPr>
        <p:spPr>
          <a:xfrm>
            <a:off x="1051560" y="4297680"/>
            <a:ext cx="7315200" cy="274320"/>
          </a:xfrm>
          <a:prstGeom prst="rect">
            <a:avLst/>
          </a:prstGeom>
          <a:noFill/>
        </p:spPr>
        <p:txBody>
          <a:bodyPr wrap="square" lIns="0" rIns="0" tIns="0" bIns="0" anchor="t">
            <a:spAutoFit/>
          </a:bodyPr>
          <a:lstStyle/>
          <a:p>
            <a:pPr algn="l">
              <a:lnSpc>
                <a:spcPct val="115000"/>
              </a:lnSpc>
            </a:pPr>
            <a:r>
              <a:rPr sz="1300" b="1">
                <a:solidFill>
                  <a:srgbClr val="0D1826"/>
                </a:solidFill>
                <a:latin typeface="Arial"/>
              </a:rPr>
              <a:t>Paid Task 1 on preprod, 2026-10-06   </a:t>
            </a:r>
            <a:r>
              <a:rPr sz="1300" b="0">
                <a:solidFill>
                  <a:srgbClr val="5F6B7C"/>
                </a:solidFill>
                <a:latin typeface="Courier New"/>
              </a:rPr>
              <a:t>01a110e2-b1ca-752c-bc65-123cd12ae594</a:t>
            </a:r>
          </a:p>
        </p:txBody>
      </p:sp>
      <p:sp>
        <p:nvSpPr>
          <p:cNvPr id="15" name="Rounded Rectangle 14"/>
          <p:cNvSpPr/>
          <p:nvPr/>
        </p:nvSpPr>
        <p:spPr>
          <a:xfrm>
            <a:off x="1051560" y="4754880"/>
            <a:ext cx="3058058" cy="914400"/>
          </a:xfrm>
          <a:prstGeom prst="roundRect">
            <a:avLst>
              <a:gd name="adj" fmla="val 8000"/>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6" name="Rounded Rectangle 15"/>
          <p:cNvSpPr/>
          <p:nvPr/>
        </p:nvSpPr>
        <p:spPr>
          <a:xfrm>
            <a:off x="1051560" y="4828032"/>
            <a:ext cx="54864" cy="768096"/>
          </a:xfrm>
          <a:prstGeom prst="roundRect">
            <a:avLst>
              <a:gd name="adj" fmla="val 50000"/>
            </a:avLst>
          </a:prstGeom>
          <a:solidFill>
            <a:srgbClr val="13773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7" name="TextBox 16"/>
          <p:cNvSpPr txBox="1"/>
          <p:nvPr/>
        </p:nvSpPr>
        <p:spPr>
          <a:xfrm>
            <a:off x="1216151" y="4809744"/>
            <a:ext cx="2820314" cy="502920"/>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Masumi escrow lock</a:t>
            </a:r>
          </a:p>
        </p:txBody>
      </p:sp>
      <p:sp>
        <p:nvSpPr>
          <p:cNvPr id="18" name="TextBox 17"/>
          <p:cNvSpPr txBox="1"/>
          <p:nvPr/>
        </p:nvSpPr>
        <p:spPr>
          <a:xfrm>
            <a:off x="1216151" y="5230368"/>
            <a:ext cx="2820314" cy="384048"/>
          </a:xfrm>
          <a:prstGeom prst="rect">
            <a:avLst/>
          </a:prstGeom>
          <a:noFill/>
        </p:spPr>
        <p:txBody>
          <a:bodyPr wrap="square" lIns="0" rIns="0" tIns="0" bIns="0" anchor="t">
            <a:spAutoFit/>
          </a:bodyPr>
          <a:lstStyle/>
          <a:p>
            <a:pPr algn="l">
              <a:lnSpc>
                <a:spcPct val="115000"/>
              </a:lnSpc>
            </a:pPr>
            <a:r>
              <a:rPr sz="1050" b="0">
                <a:solidFill>
                  <a:srgbClr val="13773A"/>
                </a:solidFill>
                <a:latin typeface="Arial"/>
              </a:rPr>
              <a:t>Sokosumi pays from the buyer's credits</a:t>
            </a:r>
          </a:p>
        </p:txBody>
      </p:sp>
      <p:sp>
        <p:nvSpPr>
          <p:cNvPr id="19" name="TextBox 18"/>
          <p:cNvSpPr txBox="1"/>
          <p:nvPr/>
        </p:nvSpPr>
        <p:spPr>
          <a:xfrm>
            <a:off x="1216151" y="5394960"/>
            <a:ext cx="2783738" cy="228600"/>
          </a:xfrm>
          <a:prstGeom prst="rect">
            <a:avLst/>
          </a:prstGeom>
          <a:noFill/>
        </p:spPr>
        <p:txBody>
          <a:bodyPr wrap="square" lIns="0" rIns="0" tIns="0" bIns="0" anchor="t">
            <a:spAutoFit/>
          </a:bodyPr>
          <a:lstStyle/>
          <a:p>
            <a:pPr algn="l">
              <a:lnSpc>
                <a:spcPct val="115000"/>
              </a:lnSpc>
            </a:pPr>
            <a:r>
              <a:rPr sz="1050" b="0">
                <a:solidFill>
                  <a:srgbClr val="1D56D8"/>
                </a:solidFill>
                <a:latin typeface="Courier New"/>
                <a:hlinkClick r:id="rId2"/>
              </a:rPr>
              <a:t>caafb951...c589</a:t>
            </a:r>
          </a:p>
        </p:txBody>
      </p:sp>
      <p:cxnSp>
        <p:nvCxnSpPr>
          <p:cNvPr id="20" name="Connector 19"/>
          <p:cNvCxnSpPr/>
          <p:nvPr/>
        </p:nvCxnSpPr>
        <p:spPr>
          <a:xfrm>
            <a:off x="4182770" y="5212080"/>
            <a:ext cx="310896" cy="0"/>
          </a:xfrm>
          <a:prstGeom prst="line">
            <a:avLst/>
          </a:prstGeom>
          <a:ln w="19050">
            <a:solidFill>
              <a:srgbClr val="5F6B7C"/>
            </a:solidFill>
            <a:tailEnd type="triangle" w="med" h="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66818" y="4754880"/>
            <a:ext cx="3058058" cy="914400"/>
          </a:xfrm>
          <a:prstGeom prst="roundRect">
            <a:avLst>
              <a:gd name="adj" fmla="val 8000"/>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2" name="Rounded Rectangle 21"/>
          <p:cNvSpPr/>
          <p:nvPr/>
        </p:nvSpPr>
        <p:spPr>
          <a:xfrm>
            <a:off x="4566818" y="4828032"/>
            <a:ext cx="54864" cy="768096"/>
          </a:xfrm>
          <a:prstGeom prst="roundRect">
            <a:avLst>
              <a:gd name="adj" fmla="val 50000"/>
            </a:avLst>
          </a:prstGeom>
          <a:solidFill>
            <a:srgbClr val="13773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3" name="TextBox 22"/>
          <p:cNvSpPr txBox="1"/>
          <p:nvPr/>
        </p:nvSpPr>
        <p:spPr>
          <a:xfrm>
            <a:off x="4731410" y="4809744"/>
            <a:ext cx="2820314" cy="502920"/>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Result hash on chain</a:t>
            </a:r>
          </a:p>
        </p:txBody>
      </p:sp>
      <p:sp>
        <p:nvSpPr>
          <p:cNvPr id="24" name="TextBox 23"/>
          <p:cNvSpPr txBox="1"/>
          <p:nvPr/>
        </p:nvSpPr>
        <p:spPr>
          <a:xfrm>
            <a:off x="4731410" y="5230368"/>
            <a:ext cx="2820314" cy="384048"/>
          </a:xfrm>
          <a:prstGeom prst="rect">
            <a:avLst/>
          </a:prstGeom>
          <a:noFill/>
        </p:spPr>
        <p:txBody>
          <a:bodyPr wrap="square" lIns="0" rIns="0" tIns="0" bIns="0" anchor="t">
            <a:spAutoFit/>
          </a:bodyPr>
          <a:lstStyle/>
          <a:p>
            <a:pPr algn="l">
              <a:lnSpc>
                <a:spcPct val="115000"/>
              </a:lnSpc>
            </a:pPr>
            <a:r>
              <a:rPr sz="1050" b="0">
                <a:solidFill>
                  <a:srgbClr val="13773A"/>
                </a:solidFill>
                <a:latin typeface="Arial"/>
              </a:rPr>
              <a:t>SubmitResult before the Task completes</a:t>
            </a:r>
          </a:p>
        </p:txBody>
      </p:sp>
      <p:sp>
        <p:nvSpPr>
          <p:cNvPr id="25" name="TextBox 24"/>
          <p:cNvSpPr txBox="1"/>
          <p:nvPr/>
        </p:nvSpPr>
        <p:spPr>
          <a:xfrm>
            <a:off x="4731410" y="5394960"/>
            <a:ext cx="2783738" cy="228600"/>
          </a:xfrm>
          <a:prstGeom prst="rect">
            <a:avLst/>
          </a:prstGeom>
          <a:noFill/>
        </p:spPr>
        <p:txBody>
          <a:bodyPr wrap="square" lIns="0" rIns="0" tIns="0" bIns="0" anchor="t">
            <a:spAutoFit/>
          </a:bodyPr>
          <a:lstStyle/>
          <a:p>
            <a:pPr algn="l">
              <a:lnSpc>
                <a:spcPct val="115000"/>
              </a:lnSpc>
            </a:pPr>
            <a:r>
              <a:rPr sz="1050" b="0">
                <a:solidFill>
                  <a:srgbClr val="1D56D8"/>
                </a:solidFill>
                <a:latin typeface="Courier New"/>
                <a:hlinkClick r:id="rId3"/>
              </a:rPr>
              <a:t>a9cefb55...8d1c</a:t>
            </a:r>
          </a:p>
        </p:txBody>
      </p:sp>
      <p:cxnSp>
        <p:nvCxnSpPr>
          <p:cNvPr id="26" name="Connector 25"/>
          <p:cNvCxnSpPr/>
          <p:nvPr/>
        </p:nvCxnSpPr>
        <p:spPr>
          <a:xfrm>
            <a:off x="7698028" y="5212080"/>
            <a:ext cx="310896" cy="0"/>
          </a:xfrm>
          <a:prstGeom prst="line">
            <a:avLst/>
          </a:prstGeom>
          <a:ln w="19050">
            <a:solidFill>
              <a:srgbClr val="5F6B7C"/>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082076" y="4754880"/>
            <a:ext cx="3058058" cy="914400"/>
          </a:xfrm>
          <a:prstGeom prst="roundRect">
            <a:avLst>
              <a:gd name="adj" fmla="val 8000"/>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8" name="Rounded Rectangle 27"/>
          <p:cNvSpPr/>
          <p:nvPr/>
        </p:nvSpPr>
        <p:spPr>
          <a:xfrm>
            <a:off x="8082076" y="4828032"/>
            <a:ext cx="54864" cy="768096"/>
          </a:xfrm>
          <a:prstGeom prst="roundRect">
            <a:avLst>
              <a:gd name="adj" fmla="val 50000"/>
            </a:avLst>
          </a:prstGeom>
          <a:solidFill>
            <a:srgbClr val="13773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9" name="TextBox 28"/>
          <p:cNvSpPr txBox="1"/>
          <p:nvPr/>
        </p:nvSpPr>
        <p:spPr>
          <a:xfrm>
            <a:off x="8246668" y="4809744"/>
            <a:ext cx="2820314" cy="502920"/>
          </a:xfrm>
          <a:prstGeom prst="rect">
            <a:avLst/>
          </a:prstGeom>
          <a:noFill/>
        </p:spPr>
        <p:txBody>
          <a:bodyPr wrap="square" lIns="0" rIns="0" tIns="0" bIns="0" anchor="ctr">
            <a:spAutoFit/>
          </a:bodyPr>
          <a:lstStyle/>
          <a:p>
            <a:pPr algn="l">
              <a:lnSpc>
                <a:spcPct val="115000"/>
              </a:lnSpc>
            </a:pPr>
            <a:r>
              <a:rPr sz="1300" b="1">
                <a:solidFill>
                  <a:srgbClr val="0D1826"/>
                </a:solidFill>
                <a:latin typeface="Arial"/>
              </a:rPr>
              <a:t>Seller collects</a:t>
            </a:r>
          </a:p>
        </p:txBody>
      </p:sp>
      <p:sp>
        <p:nvSpPr>
          <p:cNvPr id="30" name="TextBox 29"/>
          <p:cNvSpPr txBox="1"/>
          <p:nvPr/>
        </p:nvSpPr>
        <p:spPr>
          <a:xfrm>
            <a:off x="8246668" y="5230368"/>
            <a:ext cx="2820314" cy="384048"/>
          </a:xfrm>
          <a:prstGeom prst="rect">
            <a:avLst/>
          </a:prstGeom>
          <a:noFill/>
        </p:spPr>
        <p:txBody>
          <a:bodyPr wrap="square" lIns="0" rIns="0" tIns="0" bIns="0" anchor="t">
            <a:spAutoFit/>
          </a:bodyPr>
          <a:lstStyle/>
          <a:p>
            <a:pPr algn="l">
              <a:lnSpc>
                <a:spcPct val="115000"/>
              </a:lnSpc>
            </a:pPr>
            <a:r>
              <a:rPr sz="1050" b="0">
                <a:solidFill>
                  <a:srgbClr val="13773A"/>
                </a:solidFill>
                <a:latin typeface="Arial"/>
              </a:rPr>
              <a:t>state Withdrawn after the unlock time</a:t>
            </a:r>
          </a:p>
        </p:txBody>
      </p:sp>
      <p:sp>
        <p:nvSpPr>
          <p:cNvPr id="31" name="TextBox 30"/>
          <p:cNvSpPr txBox="1"/>
          <p:nvPr/>
        </p:nvSpPr>
        <p:spPr>
          <a:xfrm>
            <a:off x="8246668" y="5394960"/>
            <a:ext cx="2783738" cy="228600"/>
          </a:xfrm>
          <a:prstGeom prst="rect">
            <a:avLst/>
          </a:prstGeom>
          <a:noFill/>
        </p:spPr>
        <p:txBody>
          <a:bodyPr wrap="square" lIns="0" rIns="0" tIns="0" bIns="0" anchor="t">
            <a:spAutoFit/>
          </a:bodyPr>
          <a:lstStyle/>
          <a:p>
            <a:pPr algn="l">
              <a:lnSpc>
                <a:spcPct val="115000"/>
              </a:lnSpc>
            </a:pPr>
            <a:r>
              <a:rPr sz="1050" b="0">
                <a:solidFill>
                  <a:srgbClr val="1D56D8"/>
                </a:solidFill>
                <a:latin typeface="Courier New"/>
                <a:hlinkClick r:id="rId4"/>
              </a:rPr>
              <a:t>0e584a87...93c4</a:t>
            </a:r>
          </a:p>
        </p:txBody>
      </p:sp>
      <p:sp>
        <p:nvSpPr>
          <p:cNvPr id="32" name="TextBox 31"/>
          <p:cNvSpPr txBox="1"/>
          <p:nvPr/>
        </p:nvSpPr>
        <p:spPr>
          <a:xfrm>
            <a:off x="731520" y="6419088"/>
            <a:ext cx="5486400" cy="228600"/>
          </a:xfrm>
          <a:prstGeom prst="rect">
            <a:avLst/>
          </a:prstGeom>
          <a:noFill/>
        </p:spPr>
        <p:txBody>
          <a:bodyPr wrap="square" lIns="0" rIns="0" tIns="0" bIns="0" anchor="t">
            <a:spAutoFit/>
          </a:bodyPr>
          <a:lstStyle/>
          <a:p>
            <a:pPr algn="l">
              <a:lnSpc>
                <a:spcPct val="115000"/>
              </a:lnSpc>
            </a:pPr>
            <a:r>
              <a:rPr sz="1050" b="1">
                <a:solidFill>
                  <a:srgbClr val="5F6B7C"/>
                </a:solidFill>
                <a:latin typeface="Arial"/>
              </a:rPr>
              <a:t>Cascade</a:t>
            </a:r>
          </a:p>
        </p:txBody>
      </p:sp>
      <p:sp>
        <p:nvSpPr>
          <p:cNvPr id="33" name="TextBox 32"/>
          <p:cNvSpPr txBox="1"/>
          <p:nvPr/>
        </p:nvSpPr>
        <p:spPr>
          <a:xfrm>
            <a:off x="10545775" y="6419088"/>
            <a:ext cx="914400" cy="228600"/>
          </a:xfrm>
          <a:prstGeom prst="rect">
            <a:avLst/>
          </a:prstGeom>
          <a:noFill/>
        </p:spPr>
        <p:txBody>
          <a:bodyPr wrap="square" lIns="0" rIns="0" tIns="0" bIns="0" anchor="t">
            <a:spAutoFit/>
          </a:bodyPr>
          <a:lstStyle/>
          <a:p>
            <a:pPr algn="r">
              <a:lnSpc>
                <a:spcPct val="115000"/>
              </a:lnSpc>
            </a:pPr>
            <a:r>
              <a:rPr sz="1050" b="0">
                <a:solidFill>
                  <a:srgbClr val="5F6B7C"/>
                </a:solidFill>
                <a:latin typeface="Courier New"/>
              </a:rPr>
              <a:t>05</a:t>
            </a:r>
          </a:p>
        </p:txBody>
      </p:sp>
      <p:sp>
        <p:nvSpPr>
          <p:cNvPr id="34" name="TextBox 33"/>
          <p:cNvSpPr txBox="1"/>
          <p:nvPr/>
        </p:nvSpPr>
        <p:spPr>
          <a:xfrm>
            <a:off x="1645920" y="6419088"/>
            <a:ext cx="8716975" cy="228600"/>
          </a:xfrm>
          <a:prstGeom prst="rect">
            <a:avLst/>
          </a:prstGeom>
          <a:noFill/>
        </p:spPr>
        <p:txBody>
          <a:bodyPr wrap="square" lIns="0" rIns="0" tIns="0" bIns="0" anchor="t">
            <a:spAutoFit/>
          </a:bodyPr>
          <a:lstStyle/>
          <a:p>
            <a:pPr algn="l">
              <a:lnSpc>
                <a:spcPct val="115000"/>
              </a:lnSpc>
            </a:pPr>
            <a:r>
              <a:rPr sz="950" b="0">
                <a:solidFill>
                  <a:srgbClr val="5F6B7C"/>
                </a:solidFill>
                <a:latin typeface="Arial"/>
              </a:rPr>
              <a:t>docs/sokosumi-coworker.md, docs/submission/cardano-track.md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TextBox 1"/>
          <p:cNvSpPr txBox="1"/>
          <p:nvPr/>
        </p:nvSpPr>
        <p:spPr>
          <a:xfrm>
            <a:off x="731520" y="566928"/>
            <a:ext cx="7315200" cy="274320"/>
          </a:xfrm>
          <a:prstGeom prst="rect">
            <a:avLst/>
          </a:prstGeom>
          <a:noFill/>
        </p:spPr>
        <p:txBody>
          <a:bodyPr wrap="square" lIns="0" rIns="0" tIns="0" bIns="0" anchor="t">
            <a:spAutoFit/>
          </a:bodyPr>
          <a:lstStyle/>
          <a:p>
            <a:pPr algn="l">
              <a:lnSpc>
                <a:spcPct val="115000"/>
              </a:lnSpc>
            </a:pPr>
            <a:r>
              <a:rPr sz="1100" b="1" spc="120">
                <a:solidFill>
                  <a:srgbClr val="5F6B7C"/>
                </a:solidFill>
                <a:latin typeface="Arial"/>
              </a:rPr>
              <a:t>PROOF ON PREPROD</a:t>
            </a:r>
          </a:p>
        </p:txBody>
      </p:sp>
      <p:sp>
        <p:nvSpPr>
          <p:cNvPr id="3" name="TextBox 2"/>
          <p:cNvSpPr txBox="1"/>
          <p:nvPr/>
        </p:nvSpPr>
        <p:spPr>
          <a:xfrm>
            <a:off x="731520" y="841248"/>
            <a:ext cx="10728655" cy="1097280"/>
          </a:xfrm>
          <a:prstGeom prst="rect">
            <a:avLst/>
          </a:prstGeom>
          <a:noFill/>
        </p:spPr>
        <p:txBody>
          <a:bodyPr wrap="square" lIns="0" rIns="0" tIns="0" bIns="0" anchor="t">
            <a:spAutoFit/>
          </a:bodyPr>
          <a:lstStyle/>
          <a:p>
            <a:pPr algn="l">
              <a:lnSpc>
                <a:spcPct val="105000"/>
              </a:lnSpc>
            </a:pPr>
            <a:r>
              <a:rPr sz="3400" b="1">
                <a:solidFill>
                  <a:srgbClr val="0D1826"/>
                </a:solidFill>
                <a:latin typeface="Arial"/>
              </a:rPr>
              <a:t>All 17 escrow-tree redeemers ran on preprod.</a:t>
            </a:r>
          </a:p>
        </p:txBody>
      </p:sp>
      <p:sp>
        <p:nvSpPr>
          <p:cNvPr id="4" name="Rounded Rectangle 3"/>
          <p:cNvSpPr/>
          <p:nvPr/>
        </p:nvSpPr>
        <p:spPr>
          <a:xfrm>
            <a:off x="731520" y="1874519"/>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5" name="TextBox 4"/>
          <p:cNvSpPr txBox="1"/>
          <p:nvPr/>
        </p:nvSpPr>
        <p:spPr>
          <a:xfrm>
            <a:off x="841248" y="1874519"/>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2"/>
              </a:rPr>
              <a:t>FundRoot</a:t>
            </a:r>
          </a:p>
        </p:txBody>
      </p:sp>
      <p:sp>
        <p:nvSpPr>
          <p:cNvPr id="6" name="Rounded Rectangle 5"/>
          <p:cNvSpPr/>
          <p:nvPr/>
        </p:nvSpPr>
        <p:spPr>
          <a:xfrm>
            <a:off x="2468880" y="1874519"/>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2578608" y="1874519"/>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3"/>
              </a:rPr>
              <a:t>TopUp</a:t>
            </a:r>
          </a:p>
        </p:txBody>
      </p:sp>
      <p:sp>
        <p:nvSpPr>
          <p:cNvPr id="8" name="Rounded Rectangle 7"/>
          <p:cNvSpPr/>
          <p:nvPr/>
        </p:nvSpPr>
        <p:spPr>
          <a:xfrm>
            <a:off x="4206240" y="1874519"/>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9" name="TextBox 8"/>
          <p:cNvSpPr txBox="1"/>
          <p:nvPr/>
        </p:nvSpPr>
        <p:spPr>
          <a:xfrm>
            <a:off x="4315968" y="1874519"/>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4"/>
              </a:rPr>
              <a:t>Freeze</a:t>
            </a:r>
          </a:p>
        </p:txBody>
      </p:sp>
      <p:sp>
        <p:nvSpPr>
          <p:cNvPr id="10" name="Rounded Rectangle 9"/>
          <p:cNvSpPr/>
          <p:nvPr/>
        </p:nvSpPr>
        <p:spPr>
          <a:xfrm>
            <a:off x="731520" y="2368296"/>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841248" y="2368296"/>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5"/>
              </a:rPr>
              <a:t>Unfreeze</a:t>
            </a:r>
          </a:p>
        </p:txBody>
      </p:sp>
      <p:sp>
        <p:nvSpPr>
          <p:cNvPr id="12" name="Rounded Rectangle 11"/>
          <p:cNvSpPr/>
          <p:nvPr/>
        </p:nvSpPr>
        <p:spPr>
          <a:xfrm>
            <a:off x="2468880" y="2368296"/>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3" name="TextBox 12"/>
          <p:cNvSpPr txBox="1"/>
          <p:nvPr/>
        </p:nvSpPr>
        <p:spPr>
          <a:xfrm>
            <a:off x="2578608" y="2368296"/>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6"/>
              </a:rPr>
              <a:t>Draw (native)</a:t>
            </a:r>
          </a:p>
        </p:txBody>
      </p:sp>
      <p:sp>
        <p:nvSpPr>
          <p:cNvPr id="14" name="Rounded Rectangle 13"/>
          <p:cNvSpPr/>
          <p:nvPr/>
        </p:nvSpPr>
        <p:spPr>
          <a:xfrm>
            <a:off x="4206240" y="2368296"/>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5" name="TextBox 14"/>
          <p:cNvSpPr txBox="1"/>
          <p:nvPr/>
        </p:nvSpPr>
        <p:spPr>
          <a:xfrm>
            <a:off x="4315968" y="2368296"/>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7"/>
              </a:rPr>
              <a:t>Draw (receipt)</a:t>
            </a:r>
          </a:p>
        </p:txBody>
      </p:sp>
      <p:sp>
        <p:nvSpPr>
          <p:cNvPr id="16" name="Rounded Rectangle 15"/>
          <p:cNvSpPr/>
          <p:nvPr/>
        </p:nvSpPr>
        <p:spPr>
          <a:xfrm>
            <a:off x="731520" y="2862072"/>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7" name="TextBox 16"/>
          <p:cNvSpPr txBox="1"/>
          <p:nvPr/>
        </p:nvSpPr>
        <p:spPr>
          <a:xfrm>
            <a:off x="841248" y="2862072"/>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8"/>
              </a:rPr>
              <a:t>Submit</a:t>
            </a:r>
          </a:p>
        </p:txBody>
      </p:sp>
      <p:sp>
        <p:nvSpPr>
          <p:cNvPr id="18" name="Rounded Rectangle 17"/>
          <p:cNvSpPr/>
          <p:nvPr/>
        </p:nvSpPr>
        <p:spPr>
          <a:xfrm>
            <a:off x="2468880" y="2862072"/>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9" name="TextBox 18"/>
          <p:cNvSpPr txBox="1"/>
          <p:nvPr/>
        </p:nvSpPr>
        <p:spPr>
          <a:xfrm>
            <a:off x="2578608" y="2862072"/>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9"/>
              </a:rPr>
              <a:t>Accept</a:t>
            </a:r>
          </a:p>
        </p:txBody>
      </p:sp>
      <p:sp>
        <p:nvSpPr>
          <p:cNvPr id="20" name="Rounded Rectangle 19"/>
          <p:cNvSpPr/>
          <p:nvPr/>
        </p:nvSpPr>
        <p:spPr>
          <a:xfrm>
            <a:off x="4206240" y="2862072"/>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1" name="TextBox 20"/>
          <p:cNvSpPr txBox="1"/>
          <p:nvPr/>
        </p:nvSpPr>
        <p:spPr>
          <a:xfrm>
            <a:off x="4315968" y="2862072"/>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10"/>
              </a:rPr>
              <a:t>SettleChild</a:t>
            </a:r>
          </a:p>
        </p:txBody>
      </p:sp>
      <p:sp>
        <p:nvSpPr>
          <p:cNvPr id="22" name="Rounded Rectangle 21"/>
          <p:cNvSpPr/>
          <p:nvPr/>
        </p:nvSpPr>
        <p:spPr>
          <a:xfrm>
            <a:off x="731520" y="3355848"/>
            <a:ext cx="1627632" cy="384048"/>
          </a:xfrm>
          <a:prstGeom prst="roundRect">
            <a:avLst>
              <a:gd name="adj" fmla="val 14285"/>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3" name="TextBox 22"/>
          <p:cNvSpPr txBox="1"/>
          <p:nvPr/>
        </p:nvSpPr>
        <p:spPr>
          <a:xfrm>
            <a:off x="841248" y="3355848"/>
            <a:ext cx="1444752" cy="384048"/>
          </a:xfrm>
          <a:prstGeom prst="rect">
            <a:avLst/>
          </a:prstGeom>
          <a:noFill/>
        </p:spPr>
        <p:txBody>
          <a:bodyPr wrap="square" lIns="0" rIns="0" tIns="0" bIns="0" anchor="ctr">
            <a:spAutoFit/>
          </a:bodyPr>
          <a:lstStyle/>
          <a:p>
            <a:pPr algn="l">
              <a:lnSpc>
                <a:spcPct val="115000"/>
              </a:lnSpc>
            </a:pPr>
            <a:r>
              <a:rPr sz="900" b="1">
                <a:solidFill>
                  <a:srgbClr val="B42323"/>
                </a:solidFill>
                <a:latin typeface="Arial"/>
                <a:hlinkClick r:id="rId11"/>
              </a:rPr>
              <a:t>Challenge</a:t>
            </a:r>
          </a:p>
        </p:txBody>
      </p:sp>
      <p:sp>
        <p:nvSpPr>
          <p:cNvPr id="24" name="Rounded Rectangle 23"/>
          <p:cNvSpPr/>
          <p:nvPr/>
        </p:nvSpPr>
        <p:spPr>
          <a:xfrm>
            <a:off x="2468880" y="3355848"/>
            <a:ext cx="1627632" cy="384048"/>
          </a:xfrm>
          <a:prstGeom prst="roundRect">
            <a:avLst>
              <a:gd name="adj" fmla="val 14285"/>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5" name="TextBox 24"/>
          <p:cNvSpPr txBox="1"/>
          <p:nvPr/>
        </p:nvSpPr>
        <p:spPr>
          <a:xfrm>
            <a:off x="2578608" y="3355848"/>
            <a:ext cx="1444752" cy="384048"/>
          </a:xfrm>
          <a:prstGeom prst="rect">
            <a:avLst/>
          </a:prstGeom>
          <a:noFill/>
        </p:spPr>
        <p:txBody>
          <a:bodyPr wrap="square" lIns="0" rIns="0" tIns="0" bIns="0" anchor="ctr">
            <a:spAutoFit/>
          </a:bodyPr>
          <a:lstStyle/>
          <a:p>
            <a:pPr algn="l">
              <a:lnSpc>
                <a:spcPct val="115000"/>
              </a:lnSpc>
            </a:pPr>
            <a:r>
              <a:rPr sz="900" b="1">
                <a:solidFill>
                  <a:srgbClr val="B42323"/>
                </a:solidFill>
                <a:latin typeface="Arial"/>
                <a:hlinkClick r:id="rId12"/>
              </a:rPr>
              <a:t>Escalate</a:t>
            </a:r>
          </a:p>
        </p:txBody>
      </p:sp>
      <p:sp>
        <p:nvSpPr>
          <p:cNvPr id="26" name="Rounded Rectangle 25"/>
          <p:cNvSpPr/>
          <p:nvPr/>
        </p:nvSpPr>
        <p:spPr>
          <a:xfrm>
            <a:off x="4206240" y="3355848"/>
            <a:ext cx="1627632" cy="384048"/>
          </a:xfrm>
          <a:prstGeom prst="roundRect">
            <a:avLst>
              <a:gd name="adj" fmla="val 14285"/>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7" name="TextBox 26"/>
          <p:cNvSpPr txBox="1"/>
          <p:nvPr/>
        </p:nvSpPr>
        <p:spPr>
          <a:xfrm>
            <a:off x="4315968" y="3355848"/>
            <a:ext cx="1444752" cy="384048"/>
          </a:xfrm>
          <a:prstGeom prst="rect">
            <a:avLst/>
          </a:prstGeom>
          <a:noFill/>
        </p:spPr>
        <p:txBody>
          <a:bodyPr wrap="square" lIns="0" rIns="0" tIns="0" bIns="0" anchor="ctr">
            <a:spAutoFit/>
          </a:bodyPr>
          <a:lstStyle/>
          <a:p>
            <a:pPr algn="l">
              <a:lnSpc>
                <a:spcPct val="115000"/>
              </a:lnSpc>
            </a:pPr>
            <a:r>
              <a:rPr sz="900" b="1">
                <a:solidFill>
                  <a:srgbClr val="B42323"/>
                </a:solidFill>
                <a:latin typeface="Arial"/>
                <a:hlinkClick r:id="rId13"/>
              </a:rPr>
              <a:t>Resolve</a:t>
            </a:r>
          </a:p>
        </p:txBody>
      </p:sp>
      <p:sp>
        <p:nvSpPr>
          <p:cNvPr id="28" name="Rounded Rectangle 27"/>
          <p:cNvSpPr/>
          <p:nvPr/>
        </p:nvSpPr>
        <p:spPr>
          <a:xfrm>
            <a:off x="731520" y="3849624"/>
            <a:ext cx="1627632" cy="384048"/>
          </a:xfrm>
          <a:prstGeom prst="roundRect">
            <a:avLst>
              <a:gd name="adj" fmla="val 14285"/>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9" name="TextBox 28"/>
          <p:cNvSpPr txBox="1"/>
          <p:nvPr/>
        </p:nvSpPr>
        <p:spPr>
          <a:xfrm>
            <a:off x="841248" y="3849624"/>
            <a:ext cx="1444752" cy="384048"/>
          </a:xfrm>
          <a:prstGeom prst="rect">
            <a:avLst/>
          </a:prstGeom>
          <a:noFill/>
        </p:spPr>
        <p:txBody>
          <a:bodyPr wrap="square" lIns="0" rIns="0" tIns="0" bIns="0" anchor="ctr">
            <a:spAutoFit/>
          </a:bodyPr>
          <a:lstStyle/>
          <a:p>
            <a:pPr algn="l">
              <a:lnSpc>
                <a:spcPct val="115000"/>
              </a:lnSpc>
            </a:pPr>
            <a:r>
              <a:rPr sz="900" b="1">
                <a:solidFill>
                  <a:srgbClr val="525D6B"/>
                </a:solidFill>
                <a:latin typeface="Arial"/>
                <a:hlinkClick r:id="rId14"/>
              </a:rPr>
              <a:t>Refund</a:t>
            </a:r>
          </a:p>
        </p:txBody>
      </p:sp>
      <p:sp>
        <p:nvSpPr>
          <p:cNvPr id="30" name="Rounded Rectangle 29"/>
          <p:cNvSpPr/>
          <p:nvPr/>
        </p:nvSpPr>
        <p:spPr>
          <a:xfrm>
            <a:off x="2468880" y="3849624"/>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1" name="TextBox 30"/>
          <p:cNvSpPr txBox="1"/>
          <p:nvPr/>
        </p:nvSpPr>
        <p:spPr>
          <a:xfrm>
            <a:off x="2578608" y="3849624"/>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15"/>
              </a:rPr>
              <a:t>CloseReceipt (Metered)</a:t>
            </a:r>
          </a:p>
        </p:txBody>
      </p:sp>
      <p:sp>
        <p:nvSpPr>
          <p:cNvPr id="32" name="Rounded Rectangle 31"/>
          <p:cNvSpPr/>
          <p:nvPr/>
        </p:nvSpPr>
        <p:spPr>
          <a:xfrm>
            <a:off x="4206240" y="3849624"/>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3" name="TextBox 32"/>
          <p:cNvSpPr txBox="1"/>
          <p:nvPr/>
        </p:nvSpPr>
        <p:spPr>
          <a:xfrm>
            <a:off x="4315968" y="3849624"/>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16"/>
              </a:rPr>
              <a:t>CloseReceipt (Masumi)</a:t>
            </a:r>
          </a:p>
        </p:txBody>
      </p:sp>
      <p:sp>
        <p:nvSpPr>
          <p:cNvPr id="34" name="Rounded Rectangle 33"/>
          <p:cNvSpPr/>
          <p:nvPr/>
        </p:nvSpPr>
        <p:spPr>
          <a:xfrm>
            <a:off x="731520" y="4343400"/>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5" name="TextBox 34"/>
          <p:cNvSpPr txBox="1"/>
          <p:nvPr/>
        </p:nvSpPr>
        <p:spPr>
          <a:xfrm>
            <a:off x="841248" y="4343400"/>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17"/>
              </a:rPr>
              <a:t>CloseRoot</a:t>
            </a:r>
          </a:p>
        </p:txBody>
      </p:sp>
      <p:sp>
        <p:nvSpPr>
          <p:cNvPr id="36" name="Rounded Rectangle 35"/>
          <p:cNvSpPr/>
          <p:nvPr/>
        </p:nvSpPr>
        <p:spPr>
          <a:xfrm>
            <a:off x="2468880" y="4343400"/>
            <a:ext cx="1627632" cy="384048"/>
          </a:xfrm>
          <a:prstGeom prst="roundRect">
            <a:avLst>
              <a:gd name="adj" fmla="val 14285"/>
            </a:avLst>
          </a:prstGeom>
          <a:solidFill>
            <a:srgbClr val="E2F5E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7" name="TextBox 36"/>
          <p:cNvSpPr txBox="1"/>
          <p:nvPr/>
        </p:nvSpPr>
        <p:spPr>
          <a:xfrm>
            <a:off x="2578608" y="4343400"/>
            <a:ext cx="1444752" cy="384048"/>
          </a:xfrm>
          <a:prstGeom prst="rect">
            <a:avLst/>
          </a:prstGeom>
          <a:noFill/>
        </p:spPr>
        <p:txBody>
          <a:bodyPr wrap="square" lIns="0" rIns="0" tIns="0" bIns="0" anchor="ctr">
            <a:spAutoFit/>
          </a:bodyPr>
          <a:lstStyle/>
          <a:p>
            <a:pPr algn="l">
              <a:lnSpc>
                <a:spcPct val="115000"/>
              </a:lnSpc>
            </a:pPr>
            <a:r>
              <a:rPr sz="900" b="1">
                <a:solidFill>
                  <a:srgbClr val="13773A"/>
                </a:solidFill>
                <a:latin typeface="Arial"/>
                <a:hlinkClick r:id="rId18"/>
              </a:rPr>
              <a:t>Cancel</a:t>
            </a:r>
          </a:p>
        </p:txBody>
      </p:sp>
      <p:sp>
        <p:nvSpPr>
          <p:cNvPr id="38" name="Rounded Rectangle 37"/>
          <p:cNvSpPr/>
          <p:nvPr/>
        </p:nvSpPr>
        <p:spPr>
          <a:xfrm>
            <a:off x="6172199" y="1828799"/>
            <a:ext cx="5333695" cy="2450454"/>
          </a:xfrm>
          <a:prstGeom prst="roundRect">
            <a:avLst>
              <a:gd name="adj" fmla="val 2985"/>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pic>
        <p:nvPicPr>
          <p:cNvPr id="39" name="Picture 38" descr="explorer.png"/>
          <p:cNvPicPr>
            <a:picLocks noChangeAspect="1"/>
          </p:cNvPicPr>
          <p:nvPr/>
        </p:nvPicPr>
        <p:blipFill>
          <a:blip r:embed="rId19"/>
          <a:srcRect t="30000" b="6000" l="10000" r="10000"/>
          <a:stretch>
            <a:fillRect/>
          </a:stretch>
        </p:blipFill>
        <p:spPr>
          <a:xfrm>
            <a:off x="6217919" y="1874519"/>
            <a:ext cx="5242255" cy="2359014"/>
          </a:xfrm>
          <a:prstGeom prst="rect">
            <a:avLst/>
          </a:prstGeom>
        </p:spPr>
      </p:pic>
      <p:sp>
        <p:nvSpPr>
          <p:cNvPr id="40" name="TextBox 39"/>
          <p:cNvSpPr txBox="1"/>
          <p:nvPr/>
        </p:nvSpPr>
        <p:spPr>
          <a:xfrm>
            <a:off x="6217919" y="4709160"/>
            <a:ext cx="5242255" cy="274320"/>
          </a:xfrm>
          <a:prstGeom prst="rect">
            <a:avLst/>
          </a:prstGeom>
          <a:noFill/>
        </p:spPr>
        <p:txBody>
          <a:bodyPr wrap="square" lIns="0" rIns="0" tIns="0" bIns="0" anchor="t">
            <a:spAutoFit/>
          </a:bodyPr>
          <a:lstStyle/>
          <a:p>
            <a:pPr algn="l">
              <a:lnSpc>
                <a:spcPct val="115000"/>
              </a:lnSpc>
            </a:pPr>
            <a:r>
              <a:rPr sz="1050" b="0">
                <a:solidFill>
                  <a:srgbClr val="5F6B7C"/>
                </a:solidFill>
                <a:latin typeface="Arial"/>
              </a:rPr>
              <a:t>Live Tree Explorer, tree c011aadb...2690</a:t>
            </a:r>
          </a:p>
        </p:txBody>
      </p:sp>
      <p:sp>
        <p:nvSpPr>
          <p:cNvPr id="41" name="TextBox 40"/>
          <p:cNvSpPr txBox="1"/>
          <p:nvPr/>
        </p:nvSpPr>
        <p:spPr>
          <a:xfrm>
            <a:off x="731520" y="5120640"/>
            <a:ext cx="1650949" cy="457200"/>
          </a:xfrm>
          <a:prstGeom prst="rect">
            <a:avLst/>
          </a:prstGeom>
          <a:noFill/>
        </p:spPr>
        <p:txBody>
          <a:bodyPr wrap="square" lIns="0" rIns="0" tIns="0" bIns="0" anchor="t">
            <a:spAutoFit/>
          </a:bodyPr>
          <a:lstStyle/>
          <a:p>
            <a:pPr algn="l">
              <a:lnSpc>
                <a:spcPct val="115000"/>
              </a:lnSpc>
            </a:pPr>
            <a:r>
              <a:rPr sz="2400" b="1">
                <a:solidFill>
                  <a:srgbClr val="0D1826"/>
                </a:solidFill>
                <a:latin typeface="Arial"/>
              </a:rPr>
              <a:t>116</a:t>
            </a:r>
          </a:p>
        </p:txBody>
      </p:sp>
      <p:sp>
        <p:nvSpPr>
          <p:cNvPr id="42" name="TextBox 41"/>
          <p:cNvSpPr txBox="1"/>
          <p:nvPr/>
        </p:nvSpPr>
        <p:spPr>
          <a:xfrm>
            <a:off x="731520" y="5577840"/>
            <a:ext cx="1650949" cy="365760"/>
          </a:xfrm>
          <a:prstGeom prst="rect">
            <a:avLst/>
          </a:prstGeom>
          <a:noFill/>
        </p:spPr>
        <p:txBody>
          <a:bodyPr wrap="square" lIns="0" rIns="0" tIns="0" bIns="0" anchor="t">
            <a:spAutoFit/>
          </a:bodyPr>
          <a:lstStyle/>
          <a:p>
            <a:pPr algn="l">
              <a:lnSpc>
                <a:spcPct val="115000"/>
              </a:lnSpc>
            </a:pPr>
            <a:r>
              <a:rPr sz="1050" b="0">
                <a:solidFill>
                  <a:srgbClr val="445266"/>
                </a:solidFill>
                <a:latin typeface="Arial"/>
              </a:rPr>
              <a:t>trees funded</a:t>
            </a:r>
          </a:p>
        </p:txBody>
      </p:sp>
      <p:sp>
        <p:nvSpPr>
          <p:cNvPr id="43" name="TextBox 42"/>
          <p:cNvSpPr txBox="1"/>
          <p:nvPr/>
        </p:nvSpPr>
        <p:spPr>
          <a:xfrm>
            <a:off x="2519629" y="5120640"/>
            <a:ext cx="1650949" cy="457200"/>
          </a:xfrm>
          <a:prstGeom prst="rect">
            <a:avLst/>
          </a:prstGeom>
          <a:noFill/>
        </p:spPr>
        <p:txBody>
          <a:bodyPr wrap="square" lIns="0" rIns="0" tIns="0" bIns="0" anchor="t">
            <a:spAutoFit/>
          </a:bodyPr>
          <a:lstStyle/>
          <a:p>
            <a:pPr algn="l">
              <a:lnSpc>
                <a:spcPct val="115000"/>
              </a:lnSpc>
            </a:pPr>
            <a:r>
              <a:rPr sz="2400" b="1">
                <a:solidFill>
                  <a:srgbClr val="0D1826"/>
                </a:solidFill>
                <a:latin typeface="Arial"/>
              </a:rPr>
              <a:t>586</a:t>
            </a:r>
          </a:p>
        </p:txBody>
      </p:sp>
      <p:sp>
        <p:nvSpPr>
          <p:cNvPr id="44" name="TextBox 43"/>
          <p:cNvSpPr txBox="1"/>
          <p:nvPr/>
        </p:nvSpPr>
        <p:spPr>
          <a:xfrm>
            <a:off x="2519629" y="5577840"/>
            <a:ext cx="1650949" cy="365760"/>
          </a:xfrm>
          <a:prstGeom prst="rect">
            <a:avLst/>
          </a:prstGeom>
          <a:noFill/>
        </p:spPr>
        <p:txBody>
          <a:bodyPr wrap="square" lIns="0" rIns="0" tIns="0" bIns="0" anchor="t">
            <a:spAutoFit/>
          </a:bodyPr>
          <a:lstStyle/>
          <a:p>
            <a:pPr algn="l">
              <a:lnSpc>
                <a:spcPct val="115000"/>
              </a:lnSpc>
            </a:pPr>
            <a:r>
              <a:rPr sz="1050" b="0">
                <a:solidFill>
                  <a:srgbClr val="445266"/>
                </a:solidFill>
                <a:latin typeface="Arial"/>
              </a:rPr>
              <a:t>transactions</a:t>
            </a:r>
          </a:p>
        </p:txBody>
      </p:sp>
      <p:sp>
        <p:nvSpPr>
          <p:cNvPr id="45" name="TextBox 44"/>
          <p:cNvSpPr txBox="1"/>
          <p:nvPr/>
        </p:nvSpPr>
        <p:spPr>
          <a:xfrm>
            <a:off x="4307738" y="5120640"/>
            <a:ext cx="1650949" cy="457200"/>
          </a:xfrm>
          <a:prstGeom prst="rect">
            <a:avLst/>
          </a:prstGeom>
          <a:noFill/>
        </p:spPr>
        <p:txBody>
          <a:bodyPr wrap="square" lIns="0" rIns="0" tIns="0" bIns="0" anchor="t">
            <a:spAutoFit/>
          </a:bodyPr>
          <a:lstStyle/>
          <a:p>
            <a:pPr algn="l">
              <a:lnSpc>
                <a:spcPct val="115000"/>
              </a:lnSpc>
            </a:pPr>
            <a:r>
              <a:rPr sz="2400" b="1">
                <a:solidFill>
                  <a:srgbClr val="0D1826"/>
                </a:solidFill>
                <a:latin typeface="Arial"/>
              </a:rPr>
              <a:t>109</a:t>
            </a:r>
          </a:p>
        </p:txBody>
      </p:sp>
      <p:sp>
        <p:nvSpPr>
          <p:cNvPr id="46" name="TextBox 45"/>
          <p:cNvSpPr txBox="1"/>
          <p:nvPr/>
        </p:nvSpPr>
        <p:spPr>
          <a:xfrm>
            <a:off x="4307738" y="5577840"/>
            <a:ext cx="1650949" cy="365760"/>
          </a:xfrm>
          <a:prstGeom prst="rect">
            <a:avLst/>
          </a:prstGeom>
          <a:noFill/>
        </p:spPr>
        <p:txBody>
          <a:bodyPr wrap="square" lIns="0" rIns="0" tIns="0" bIns="0" anchor="t">
            <a:spAutoFit/>
          </a:bodyPr>
          <a:lstStyle/>
          <a:p>
            <a:pPr algn="l">
              <a:lnSpc>
                <a:spcPct val="115000"/>
              </a:lnSpc>
            </a:pPr>
            <a:r>
              <a:rPr sz="1050" b="0">
                <a:solidFill>
                  <a:srgbClr val="445266"/>
                </a:solidFill>
                <a:latin typeface="Arial"/>
              </a:rPr>
              <a:t>payouts to 11 payees</a:t>
            </a:r>
          </a:p>
        </p:txBody>
      </p:sp>
      <p:sp>
        <p:nvSpPr>
          <p:cNvPr id="47" name="TextBox 46"/>
          <p:cNvSpPr txBox="1"/>
          <p:nvPr/>
        </p:nvSpPr>
        <p:spPr>
          <a:xfrm>
            <a:off x="6095847" y="5120640"/>
            <a:ext cx="1650949" cy="457200"/>
          </a:xfrm>
          <a:prstGeom prst="rect">
            <a:avLst/>
          </a:prstGeom>
          <a:noFill/>
        </p:spPr>
        <p:txBody>
          <a:bodyPr wrap="square" lIns="0" rIns="0" tIns="0" bIns="0" anchor="t">
            <a:spAutoFit/>
          </a:bodyPr>
          <a:lstStyle/>
          <a:p>
            <a:pPr algn="l">
              <a:lnSpc>
                <a:spcPct val="115000"/>
              </a:lnSpc>
            </a:pPr>
            <a:r>
              <a:rPr sz="2400" b="1">
                <a:solidFill>
                  <a:srgbClr val="0D1826"/>
                </a:solidFill>
                <a:latin typeface="Arial"/>
              </a:rPr>
              <a:t>432.63</a:t>
            </a:r>
          </a:p>
        </p:txBody>
      </p:sp>
      <p:sp>
        <p:nvSpPr>
          <p:cNvPr id="48" name="TextBox 47"/>
          <p:cNvSpPr txBox="1"/>
          <p:nvPr/>
        </p:nvSpPr>
        <p:spPr>
          <a:xfrm>
            <a:off x="6095847" y="5577840"/>
            <a:ext cx="1650949" cy="365760"/>
          </a:xfrm>
          <a:prstGeom prst="rect">
            <a:avLst/>
          </a:prstGeom>
          <a:noFill/>
        </p:spPr>
        <p:txBody>
          <a:bodyPr wrap="square" lIns="0" rIns="0" tIns="0" bIns="0" anchor="t">
            <a:spAutoFit/>
          </a:bodyPr>
          <a:lstStyle/>
          <a:p>
            <a:pPr algn="l">
              <a:lnSpc>
                <a:spcPct val="115000"/>
              </a:lnSpc>
            </a:pPr>
            <a:r>
              <a:rPr sz="1050" b="0">
                <a:solidFill>
                  <a:srgbClr val="445266"/>
                </a:solidFill>
                <a:latin typeface="Arial"/>
              </a:rPr>
              <a:t>ADA paid to agents</a:t>
            </a:r>
          </a:p>
        </p:txBody>
      </p:sp>
      <p:sp>
        <p:nvSpPr>
          <p:cNvPr id="49" name="TextBox 48"/>
          <p:cNvSpPr txBox="1"/>
          <p:nvPr/>
        </p:nvSpPr>
        <p:spPr>
          <a:xfrm>
            <a:off x="7883956" y="5120640"/>
            <a:ext cx="1650949" cy="457200"/>
          </a:xfrm>
          <a:prstGeom prst="rect">
            <a:avLst/>
          </a:prstGeom>
          <a:noFill/>
        </p:spPr>
        <p:txBody>
          <a:bodyPr wrap="square" lIns="0" rIns="0" tIns="0" bIns="0" anchor="t">
            <a:spAutoFit/>
          </a:bodyPr>
          <a:lstStyle/>
          <a:p>
            <a:pPr algn="l">
              <a:lnSpc>
                <a:spcPct val="115000"/>
              </a:lnSpc>
            </a:pPr>
            <a:r>
              <a:rPr sz="2400" b="1">
                <a:solidFill>
                  <a:srgbClr val="0D1826"/>
                </a:solidFill>
                <a:latin typeface="Arial"/>
              </a:rPr>
              <a:t>5,272</a:t>
            </a:r>
          </a:p>
        </p:txBody>
      </p:sp>
      <p:sp>
        <p:nvSpPr>
          <p:cNvPr id="50" name="TextBox 49"/>
          <p:cNvSpPr txBox="1"/>
          <p:nvPr/>
        </p:nvSpPr>
        <p:spPr>
          <a:xfrm>
            <a:off x="7883956" y="5577840"/>
            <a:ext cx="1650949" cy="365760"/>
          </a:xfrm>
          <a:prstGeom prst="rect">
            <a:avLst/>
          </a:prstGeom>
          <a:noFill/>
        </p:spPr>
        <p:txBody>
          <a:bodyPr wrap="square" lIns="0" rIns="0" tIns="0" bIns="0" anchor="t">
            <a:spAutoFit/>
          </a:bodyPr>
          <a:lstStyle/>
          <a:p>
            <a:pPr algn="l">
              <a:lnSpc>
                <a:spcPct val="115000"/>
              </a:lnSpc>
            </a:pPr>
            <a:r>
              <a:rPr sz="1050" b="0">
                <a:solidFill>
                  <a:srgbClr val="445266"/>
                </a:solidFill>
                <a:latin typeface="Arial"/>
              </a:rPr>
              <a:t>ADA returned to buyers</a:t>
            </a:r>
          </a:p>
        </p:txBody>
      </p:sp>
      <p:sp>
        <p:nvSpPr>
          <p:cNvPr id="51" name="TextBox 50"/>
          <p:cNvSpPr txBox="1"/>
          <p:nvPr/>
        </p:nvSpPr>
        <p:spPr>
          <a:xfrm>
            <a:off x="9672066" y="5120640"/>
            <a:ext cx="1650949" cy="457200"/>
          </a:xfrm>
          <a:prstGeom prst="rect">
            <a:avLst/>
          </a:prstGeom>
          <a:noFill/>
        </p:spPr>
        <p:txBody>
          <a:bodyPr wrap="square" lIns="0" rIns="0" tIns="0" bIns="0" anchor="t">
            <a:spAutoFit/>
          </a:bodyPr>
          <a:lstStyle/>
          <a:p>
            <a:pPr algn="l">
              <a:lnSpc>
                <a:spcPct val="115000"/>
              </a:lnSpc>
            </a:pPr>
            <a:r>
              <a:rPr sz="2400" b="1">
                <a:solidFill>
                  <a:srgbClr val="0D1826"/>
                </a:solidFill>
                <a:latin typeface="Arial"/>
              </a:rPr>
              <a:t>735</a:t>
            </a:r>
          </a:p>
        </p:txBody>
      </p:sp>
      <p:sp>
        <p:nvSpPr>
          <p:cNvPr id="52" name="TextBox 51"/>
          <p:cNvSpPr txBox="1"/>
          <p:nvPr/>
        </p:nvSpPr>
        <p:spPr>
          <a:xfrm>
            <a:off x="9672066" y="5577840"/>
            <a:ext cx="1650949" cy="365760"/>
          </a:xfrm>
          <a:prstGeom prst="rect">
            <a:avLst/>
          </a:prstGeom>
          <a:noFill/>
        </p:spPr>
        <p:txBody>
          <a:bodyPr wrap="square" lIns="0" rIns="0" tIns="0" bIns="0" anchor="t">
            <a:spAutoFit/>
          </a:bodyPr>
          <a:lstStyle/>
          <a:p>
            <a:pPr algn="l">
              <a:lnSpc>
                <a:spcPct val="115000"/>
              </a:lnSpc>
            </a:pPr>
            <a:r>
              <a:rPr sz="1050" b="0">
                <a:solidFill>
                  <a:srgbClr val="445266"/>
                </a:solidFill>
                <a:latin typeface="Arial"/>
              </a:rPr>
              <a:t>Aiken tests, 0 failures</a:t>
            </a:r>
          </a:p>
        </p:txBody>
      </p:sp>
      <p:sp>
        <p:nvSpPr>
          <p:cNvPr id="53" name="TextBox 52"/>
          <p:cNvSpPr txBox="1"/>
          <p:nvPr/>
        </p:nvSpPr>
        <p:spPr>
          <a:xfrm>
            <a:off x="731520" y="6419088"/>
            <a:ext cx="5486400" cy="228600"/>
          </a:xfrm>
          <a:prstGeom prst="rect">
            <a:avLst/>
          </a:prstGeom>
          <a:noFill/>
        </p:spPr>
        <p:txBody>
          <a:bodyPr wrap="square" lIns="0" rIns="0" tIns="0" bIns="0" anchor="t">
            <a:spAutoFit/>
          </a:bodyPr>
          <a:lstStyle/>
          <a:p>
            <a:pPr algn="l">
              <a:lnSpc>
                <a:spcPct val="115000"/>
              </a:lnSpc>
            </a:pPr>
            <a:r>
              <a:rPr sz="1050" b="1">
                <a:solidFill>
                  <a:srgbClr val="5F6B7C"/>
                </a:solidFill>
                <a:latin typeface="Arial"/>
              </a:rPr>
              <a:t>Cascade</a:t>
            </a:r>
          </a:p>
        </p:txBody>
      </p:sp>
      <p:sp>
        <p:nvSpPr>
          <p:cNvPr id="54" name="TextBox 53"/>
          <p:cNvSpPr txBox="1"/>
          <p:nvPr/>
        </p:nvSpPr>
        <p:spPr>
          <a:xfrm>
            <a:off x="10545775" y="6419088"/>
            <a:ext cx="914400" cy="228600"/>
          </a:xfrm>
          <a:prstGeom prst="rect">
            <a:avLst/>
          </a:prstGeom>
          <a:noFill/>
        </p:spPr>
        <p:txBody>
          <a:bodyPr wrap="square" lIns="0" rIns="0" tIns="0" bIns="0" anchor="t">
            <a:spAutoFit/>
          </a:bodyPr>
          <a:lstStyle/>
          <a:p>
            <a:pPr algn="r">
              <a:lnSpc>
                <a:spcPct val="115000"/>
              </a:lnSpc>
            </a:pPr>
            <a:r>
              <a:rPr sz="1050" b="0">
                <a:solidFill>
                  <a:srgbClr val="5F6B7C"/>
                </a:solidFill>
                <a:latin typeface="Courier New"/>
              </a:rPr>
              <a:t>06</a:t>
            </a:r>
          </a:p>
        </p:txBody>
      </p:sp>
      <p:sp>
        <p:nvSpPr>
          <p:cNvPr id="55" name="TextBox 54"/>
          <p:cNvSpPr txBox="1"/>
          <p:nvPr/>
        </p:nvSpPr>
        <p:spPr>
          <a:xfrm>
            <a:off x="1645920" y="6419088"/>
            <a:ext cx="8716975" cy="228600"/>
          </a:xfrm>
          <a:prstGeom prst="rect">
            <a:avLst/>
          </a:prstGeom>
          <a:noFill/>
        </p:spPr>
        <p:txBody>
          <a:bodyPr wrap="square" lIns="0" rIns="0" tIns="0" bIns="0" anchor="t">
            <a:spAutoFit/>
          </a:bodyPr>
          <a:lstStyle/>
          <a:p>
            <a:pPr algn="l">
              <a:lnSpc>
                <a:spcPct val="115000"/>
              </a:lnSpc>
            </a:pPr>
            <a:r>
              <a:rPr sz="950" b="0">
                <a:solidFill>
                  <a:srgbClr val="5F6B7C"/>
                </a:solidFill>
                <a:latin typeface="Arial"/>
              </a:rPr>
              <a:t>Each chip links its tx. Totals: /api/v1/landing, 2026-10-07 03:00 UTC. Tests: demo/out/aiken-check.json.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TextBox 1"/>
          <p:cNvSpPr txBox="1"/>
          <p:nvPr/>
        </p:nvSpPr>
        <p:spPr>
          <a:xfrm>
            <a:off x="731520" y="566928"/>
            <a:ext cx="7315200" cy="274320"/>
          </a:xfrm>
          <a:prstGeom prst="rect">
            <a:avLst/>
          </a:prstGeom>
          <a:noFill/>
        </p:spPr>
        <p:txBody>
          <a:bodyPr wrap="square" lIns="0" rIns="0" tIns="0" bIns="0" anchor="t">
            <a:spAutoFit/>
          </a:bodyPr>
          <a:lstStyle/>
          <a:p>
            <a:pPr algn="l">
              <a:lnSpc>
                <a:spcPct val="115000"/>
              </a:lnSpc>
            </a:pPr>
            <a:r>
              <a:rPr sz="1100" b="1" spc="120">
                <a:solidFill>
                  <a:srgbClr val="5F6B7C"/>
                </a:solidFill>
                <a:latin typeface="Arial"/>
              </a:rPr>
              <a:t>WHAT IS NEW</a:t>
            </a:r>
          </a:p>
        </p:txBody>
      </p:sp>
      <p:sp>
        <p:nvSpPr>
          <p:cNvPr id="3" name="TextBox 2"/>
          <p:cNvSpPr txBox="1"/>
          <p:nvPr/>
        </p:nvSpPr>
        <p:spPr>
          <a:xfrm>
            <a:off x="731520" y="841248"/>
            <a:ext cx="10728655" cy="1097280"/>
          </a:xfrm>
          <a:prstGeom prst="rect">
            <a:avLst/>
          </a:prstGeom>
          <a:noFill/>
        </p:spPr>
        <p:txBody>
          <a:bodyPr wrap="square" lIns="0" rIns="0" tIns="0" bIns="0" anchor="t">
            <a:spAutoFit/>
          </a:bodyPr>
          <a:lstStyle/>
          <a:p>
            <a:pPr algn="l">
              <a:lnSpc>
                <a:spcPct val="105000"/>
              </a:lnSpc>
            </a:pPr>
            <a:r>
              <a:rPr sz="3400" b="1">
                <a:solidFill>
                  <a:srgbClr val="0D1826"/>
                </a:solidFill>
                <a:latin typeface="Arial"/>
              </a:rPr>
              <a:t>Cascade escrows the whole hiring chain.</a:t>
            </a:r>
          </a:p>
        </p:txBody>
      </p:sp>
      <p:sp>
        <p:nvSpPr>
          <p:cNvPr id="4" name="Rounded Rectangle 3"/>
          <p:cNvSpPr/>
          <p:nvPr/>
        </p:nvSpPr>
        <p:spPr>
          <a:xfrm>
            <a:off x="731520" y="2011680"/>
            <a:ext cx="10728655" cy="731520"/>
          </a:xfrm>
          <a:prstGeom prst="roundRect">
            <a:avLst>
              <a:gd name="adj" fmla="val 125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5" name="TextBox 4"/>
          <p:cNvSpPr txBox="1"/>
          <p:nvPr/>
        </p:nvSpPr>
        <p:spPr>
          <a:xfrm>
            <a:off x="1051560" y="2011680"/>
            <a:ext cx="2011680" cy="731520"/>
          </a:xfrm>
          <a:prstGeom prst="rect">
            <a:avLst/>
          </a:prstGeom>
          <a:noFill/>
        </p:spPr>
        <p:txBody>
          <a:bodyPr wrap="square" lIns="0" rIns="0" tIns="0" bIns="0" anchor="ctr">
            <a:spAutoFit/>
          </a:bodyPr>
          <a:lstStyle/>
          <a:p>
            <a:pPr algn="l">
              <a:lnSpc>
                <a:spcPct val="115000"/>
              </a:lnSpc>
            </a:pPr>
            <a:r>
              <a:rPr sz="2000" b="1">
                <a:solidFill>
                  <a:srgbClr val="0D1826"/>
                </a:solidFill>
                <a:latin typeface="Arial"/>
              </a:rPr>
              <a:t>Masumi</a:t>
            </a:r>
          </a:p>
        </p:txBody>
      </p:sp>
      <p:sp>
        <p:nvSpPr>
          <p:cNvPr id="6" name="TextBox 5"/>
          <p:cNvSpPr txBox="1"/>
          <p:nvPr/>
        </p:nvSpPr>
        <p:spPr>
          <a:xfrm>
            <a:off x="3108960" y="2011680"/>
            <a:ext cx="8076895" cy="731520"/>
          </a:xfrm>
          <a:prstGeom prst="rect">
            <a:avLst/>
          </a:prstGeom>
          <a:noFill/>
        </p:spPr>
        <p:txBody>
          <a:bodyPr wrap="square" lIns="0" rIns="0" tIns="0" bIns="0" anchor="ctr">
            <a:spAutoFit/>
          </a:bodyPr>
          <a:lstStyle/>
          <a:p>
            <a:pPr algn="l">
              <a:lnSpc>
                <a:spcPct val="115000"/>
              </a:lnSpc>
            </a:pPr>
            <a:r>
              <a:rPr sz="1600" b="0">
                <a:solidFill>
                  <a:srgbClr val="445266"/>
                </a:solidFill>
                <a:latin typeface="Arial"/>
              </a:rPr>
              <a:t>Escrows one hop: buyer to one agent.</a:t>
            </a:r>
          </a:p>
        </p:txBody>
      </p:sp>
      <p:sp>
        <p:nvSpPr>
          <p:cNvPr id="7" name="Rounded Rectangle 6"/>
          <p:cNvSpPr/>
          <p:nvPr/>
        </p:nvSpPr>
        <p:spPr>
          <a:xfrm>
            <a:off x="731520" y="2880360"/>
            <a:ext cx="10728655" cy="731520"/>
          </a:xfrm>
          <a:prstGeom prst="roundRect">
            <a:avLst>
              <a:gd name="adj" fmla="val 125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8" name="TextBox 7"/>
          <p:cNvSpPr txBox="1"/>
          <p:nvPr/>
        </p:nvSpPr>
        <p:spPr>
          <a:xfrm>
            <a:off x="1051560" y="2880360"/>
            <a:ext cx="2011680" cy="731520"/>
          </a:xfrm>
          <a:prstGeom prst="rect">
            <a:avLst/>
          </a:prstGeom>
          <a:noFill/>
        </p:spPr>
        <p:txBody>
          <a:bodyPr wrap="square" lIns="0" rIns="0" tIns="0" bIns="0" anchor="ctr">
            <a:spAutoFit/>
          </a:bodyPr>
          <a:lstStyle/>
          <a:p>
            <a:pPr algn="l">
              <a:lnSpc>
                <a:spcPct val="115000"/>
              </a:lnSpc>
            </a:pPr>
            <a:r>
              <a:rPr sz="2000" b="1">
                <a:solidFill>
                  <a:srgbClr val="0D1826"/>
                </a:solidFill>
                <a:latin typeface="Arial"/>
              </a:rPr>
              <a:t>x402</a:t>
            </a:r>
          </a:p>
        </p:txBody>
      </p:sp>
      <p:sp>
        <p:nvSpPr>
          <p:cNvPr id="9" name="TextBox 8"/>
          <p:cNvSpPr txBox="1"/>
          <p:nvPr/>
        </p:nvSpPr>
        <p:spPr>
          <a:xfrm>
            <a:off x="3108960" y="2880360"/>
            <a:ext cx="8076895" cy="731520"/>
          </a:xfrm>
          <a:prstGeom prst="rect">
            <a:avLst/>
          </a:prstGeom>
          <a:noFill/>
        </p:spPr>
        <p:txBody>
          <a:bodyPr wrap="square" lIns="0" rIns="0" tIns="0" bIns="0" anchor="ctr">
            <a:spAutoFit/>
          </a:bodyPr>
          <a:lstStyle/>
          <a:p>
            <a:pPr algn="l">
              <a:lnSpc>
                <a:spcPct val="115000"/>
              </a:lnSpc>
            </a:pPr>
            <a:r>
              <a:rPr sz="1600" b="0">
                <a:solidFill>
                  <a:srgbClr val="445266"/>
                </a:solidFill>
                <a:latin typeface="Arial"/>
              </a:rPr>
              <a:t>Pays one request.</a:t>
            </a:r>
          </a:p>
        </p:txBody>
      </p:sp>
      <p:sp>
        <p:nvSpPr>
          <p:cNvPr id="10" name="Rounded Rectangle 9"/>
          <p:cNvSpPr/>
          <p:nvPr/>
        </p:nvSpPr>
        <p:spPr>
          <a:xfrm>
            <a:off x="731520" y="3749039"/>
            <a:ext cx="10728655" cy="731520"/>
          </a:xfrm>
          <a:prstGeom prst="roundRect">
            <a:avLst>
              <a:gd name="adj" fmla="val 12500"/>
            </a:avLst>
          </a:prstGeom>
          <a:solidFill>
            <a:srgbClr val="E2F5E9"/>
          </a:solidFill>
          <a:ln w="12700">
            <a:solidFill>
              <a:srgbClr val="13773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1051560" y="3749039"/>
            <a:ext cx="2011680" cy="731520"/>
          </a:xfrm>
          <a:prstGeom prst="rect">
            <a:avLst/>
          </a:prstGeom>
          <a:noFill/>
        </p:spPr>
        <p:txBody>
          <a:bodyPr wrap="square" lIns="0" rIns="0" tIns="0" bIns="0" anchor="ctr">
            <a:spAutoFit/>
          </a:bodyPr>
          <a:lstStyle/>
          <a:p>
            <a:pPr algn="l">
              <a:lnSpc>
                <a:spcPct val="115000"/>
              </a:lnSpc>
            </a:pPr>
            <a:r>
              <a:rPr sz="2000" b="1">
                <a:solidFill>
                  <a:srgbClr val="13773A"/>
                </a:solidFill>
                <a:latin typeface="Arial"/>
              </a:rPr>
              <a:t>Cascade</a:t>
            </a:r>
          </a:p>
        </p:txBody>
      </p:sp>
      <p:sp>
        <p:nvSpPr>
          <p:cNvPr id="12" name="TextBox 11"/>
          <p:cNvSpPr txBox="1"/>
          <p:nvPr/>
        </p:nvSpPr>
        <p:spPr>
          <a:xfrm>
            <a:off x="3108960" y="3749039"/>
            <a:ext cx="8076895" cy="731520"/>
          </a:xfrm>
          <a:prstGeom prst="rect">
            <a:avLst/>
          </a:prstGeom>
          <a:noFill/>
        </p:spPr>
        <p:txBody>
          <a:bodyPr wrap="square" lIns="0" rIns="0" tIns="0" bIns="0" anchor="ctr">
            <a:spAutoFit/>
          </a:bodyPr>
          <a:lstStyle/>
          <a:p>
            <a:pPr algn="l">
              <a:lnSpc>
                <a:spcPct val="115000"/>
              </a:lnSpc>
            </a:pPr>
            <a:r>
              <a:rPr sz="1600" b="0">
                <a:solidFill>
                  <a:srgbClr val="0D1826"/>
                </a:solidFill>
                <a:latin typeface="Arial"/>
              </a:rPr>
              <a:t>Nests escrows across the whole hiring chain and binds every payment to a plan the buyer signed.</a:t>
            </a:r>
          </a:p>
        </p:txBody>
      </p:sp>
      <p:sp>
        <p:nvSpPr>
          <p:cNvPr id="13" name="TextBox 12"/>
          <p:cNvSpPr txBox="1"/>
          <p:nvPr/>
        </p:nvSpPr>
        <p:spPr>
          <a:xfrm>
            <a:off x="731520" y="4800600"/>
            <a:ext cx="10728655" cy="365760"/>
          </a:xfrm>
          <a:prstGeom prst="rect">
            <a:avLst/>
          </a:prstGeom>
          <a:noFill/>
        </p:spPr>
        <p:txBody>
          <a:bodyPr wrap="square" lIns="0" rIns="0" tIns="0" bIns="0" anchor="t">
            <a:spAutoFit/>
          </a:bodyPr>
          <a:lstStyle/>
          <a:p>
            <a:pPr algn="l">
              <a:lnSpc>
                <a:spcPct val="115000"/>
              </a:lnSpc>
            </a:pPr>
            <a:r>
              <a:rPr sz="1700" b="1">
                <a:solidFill>
                  <a:srgbClr val="0D1826"/>
                </a:solidFill>
                <a:latin typeface="Arial"/>
              </a:rPr>
              <a:t>We checked seven Cardano agent-payment projects. None ships a tree of escrows.</a:t>
            </a:r>
          </a:p>
        </p:txBody>
      </p:sp>
      <p:sp>
        <p:nvSpPr>
          <p:cNvPr id="14" name="TextBox 13"/>
          <p:cNvSpPr txBox="1"/>
          <p:nvPr/>
        </p:nvSpPr>
        <p:spPr>
          <a:xfrm>
            <a:off x="731520" y="5257800"/>
            <a:ext cx="10728655" cy="365760"/>
          </a:xfrm>
          <a:prstGeom prst="rect">
            <a:avLst/>
          </a:prstGeom>
          <a:noFill/>
        </p:spPr>
        <p:txBody>
          <a:bodyPr wrap="square" lIns="0" rIns="0" tIns="0" bIns="0" anchor="t">
            <a:spAutoFit/>
          </a:bodyPr>
          <a:lstStyle/>
          <a:p>
            <a:pPr algn="l">
              <a:lnSpc>
                <a:spcPct val="115000"/>
              </a:lnSpc>
            </a:pPr>
            <a:r>
              <a:rPr sz="1300" b="0">
                <a:solidFill>
                  <a:srgbClr val="445266"/>
                </a:solidFill>
                <a:latin typeface="Arial"/>
              </a:rPr>
              <a:t>ArgoOperator, ANTIDOTE, Sentinel, Proof Pair, NightPay, cardano402, Subbit.xyz: each handles one hop, a pool or a channel.</a:t>
            </a:r>
          </a:p>
        </p:txBody>
      </p:sp>
      <p:sp>
        <p:nvSpPr>
          <p:cNvPr id="15" name="TextBox 14"/>
          <p:cNvSpPr txBox="1"/>
          <p:nvPr/>
        </p:nvSpPr>
        <p:spPr>
          <a:xfrm>
            <a:off x="731520" y="6419088"/>
            <a:ext cx="5486400" cy="228600"/>
          </a:xfrm>
          <a:prstGeom prst="rect">
            <a:avLst/>
          </a:prstGeom>
          <a:noFill/>
        </p:spPr>
        <p:txBody>
          <a:bodyPr wrap="square" lIns="0" rIns="0" tIns="0" bIns="0" anchor="t">
            <a:spAutoFit/>
          </a:bodyPr>
          <a:lstStyle/>
          <a:p>
            <a:pPr algn="l">
              <a:lnSpc>
                <a:spcPct val="115000"/>
              </a:lnSpc>
            </a:pPr>
            <a:r>
              <a:rPr sz="1050" b="1">
                <a:solidFill>
                  <a:srgbClr val="5F6B7C"/>
                </a:solidFill>
                <a:latin typeface="Arial"/>
              </a:rPr>
              <a:t>Cascade</a:t>
            </a:r>
          </a:p>
        </p:txBody>
      </p:sp>
      <p:sp>
        <p:nvSpPr>
          <p:cNvPr id="16" name="TextBox 15"/>
          <p:cNvSpPr txBox="1"/>
          <p:nvPr/>
        </p:nvSpPr>
        <p:spPr>
          <a:xfrm>
            <a:off x="10545775" y="6419088"/>
            <a:ext cx="914400" cy="228600"/>
          </a:xfrm>
          <a:prstGeom prst="rect">
            <a:avLst/>
          </a:prstGeom>
          <a:noFill/>
        </p:spPr>
        <p:txBody>
          <a:bodyPr wrap="square" lIns="0" rIns="0" tIns="0" bIns="0" anchor="t">
            <a:spAutoFit/>
          </a:bodyPr>
          <a:lstStyle/>
          <a:p>
            <a:pPr algn="r">
              <a:lnSpc>
                <a:spcPct val="115000"/>
              </a:lnSpc>
            </a:pPr>
            <a:r>
              <a:rPr sz="1050" b="0">
                <a:solidFill>
                  <a:srgbClr val="5F6B7C"/>
                </a:solidFill>
                <a:latin typeface="Courier New"/>
              </a:rPr>
              <a:t>07</a:t>
            </a:r>
          </a:p>
        </p:txBody>
      </p:sp>
      <p:sp>
        <p:nvSpPr>
          <p:cNvPr id="17" name="TextBox 16"/>
          <p:cNvSpPr txBox="1"/>
          <p:nvPr/>
        </p:nvSpPr>
        <p:spPr>
          <a:xfrm>
            <a:off x="1645920" y="6419088"/>
            <a:ext cx="8716975" cy="228600"/>
          </a:xfrm>
          <a:prstGeom prst="rect">
            <a:avLst/>
          </a:prstGeom>
          <a:noFill/>
        </p:spPr>
        <p:txBody>
          <a:bodyPr wrap="square" lIns="0" rIns="0" tIns="0" bIns="0" anchor="t">
            <a:spAutoFit/>
          </a:bodyPr>
          <a:lstStyle/>
          <a:p>
            <a:pPr algn="l">
              <a:lnSpc>
                <a:spcPct val="115000"/>
              </a:lnSpc>
            </a:pPr>
            <a:r>
              <a:rPr sz="950" b="0">
                <a:solidFill>
                  <a:srgbClr val="5F6B7C"/>
                </a:solidFill>
                <a:latin typeface="Arial"/>
              </a:rPr>
              <a:t>PRD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826"/>
        </a:solidFill>
        <a:effectLst/>
      </p:bgPr>
    </p:bg>
    <p:spTree>
      <p:nvGrpSpPr>
        <p:cNvPr id="1" name=""/>
        <p:cNvGrpSpPr/>
        <p:nvPr/>
      </p:nvGrpSpPr>
      <p:grpSpPr/>
      <p:sp>
        <p:nvSpPr>
          <p:cNvPr id="2" name="TextBox 1"/>
          <p:cNvSpPr txBox="1"/>
          <p:nvPr/>
        </p:nvSpPr>
        <p:spPr>
          <a:xfrm>
            <a:off x="731520" y="566928"/>
            <a:ext cx="7315200" cy="274320"/>
          </a:xfrm>
          <a:prstGeom prst="rect">
            <a:avLst/>
          </a:prstGeom>
          <a:noFill/>
        </p:spPr>
        <p:txBody>
          <a:bodyPr wrap="square" lIns="0" rIns="0" tIns="0" bIns="0" anchor="t">
            <a:spAutoFit/>
          </a:bodyPr>
          <a:lstStyle/>
          <a:p>
            <a:pPr algn="l">
              <a:lnSpc>
                <a:spcPct val="115000"/>
              </a:lnSpc>
            </a:pPr>
            <a:r>
              <a:rPr sz="1100" b="1" spc="120">
                <a:solidFill>
                  <a:srgbClr val="A9B6C6"/>
                </a:solidFill>
                <a:latin typeface="Arial"/>
              </a:rPr>
              <a:t>WHAT'S NEXT</a:t>
            </a:r>
          </a:p>
        </p:txBody>
      </p:sp>
      <p:sp>
        <p:nvSpPr>
          <p:cNvPr id="3" name="TextBox 2"/>
          <p:cNvSpPr txBox="1"/>
          <p:nvPr/>
        </p:nvSpPr>
        <p:spPr>
          <a:xfrm>
            <a:off x="731520" y="841248"/>
            <a:ext cx="10058400" cy="731520"/>
          </a:xfrm>
          <a:prstGeom prst="rect">
            <a:avLst/>
          </a:prstGeom>
          <a:noFill/>
        </p:spPr>
        <p:txBody>
          <a:bodyPr wrap="square" lIns="0" rIns="0" tIns="0" bIns="0" anchor="t">
            <a:spAutoFit/>
          </a:bodyPr>
          <a:lstStyle/>
          <a:p>
            <a:pPr algn="l">
              <a:lnSpc>
                <a:spcPct val="115000"/>
              </a:lnSpc>
            </a:pPr>
            <a:r>
              <a:rPr sz="3400" b="1">
                <a:solidFill>
                  <a:srgbClr val="E7EEF6"/>
                </a:solidFill>
                <a:latin typeface="Arial"/>
              </a:rPr>
              <a:t>From preprod to mainnet.</a:t>
            </a:r>
          </a:p>
        </p:txBody>
      </p:sp>
      <p:sp>
        <p:nvSpPr>
          <p:cNvPr id="4" name="Rounded Rectangle 3"/>
          <p:cNvSpPr/>
          <p:nvPr/>
        </p:nvSpPr>
        <p:spPr>
          <a:xfrm>
            <a:off x="731520" y="1920240"/>
            <a:ext cx="3429000" cy="2103120"/>
          </a:xfrm>
          <a:prstGeom prst="roundRect">
            <a:avLst>
              <a:gd name="adj" fmla="val 6086"/>
            </a:avLst>
          </a:prstGeom>
          <a:solidFill>
            <a:srgbClr val="13212F"/>
          </a:solidFill>
          <a:ln w="12700">
            <a:solidFill>
              <a:srgbClr val="2C3E53"/>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5" name="TextBox 4"/>
          <p:cNvSpPr txBox="1"/>
          <p:nvPr/>
        </p:nvSpPr>
        <p:spPr>
          <a:xfrm>
            <a:off x="1005840" y="2148840"/>
            <a:ext cx="914400" cy="365760"/>
          </a:xfrm>
          <a:prstGeom prst="rect">
            <a:avLst/>
          </a:prstGeom>
          <a:noFill/>
        </p:spPr>
        <p:txBody>
          <a:bodyPr wrap="square" lIns="0" rIns="0" tIns="0" bIns="0" anchor="t">
            <a:spAutoFit/>
          </a:bodyPr>
          <a:lstStyle/>
          <a:p>
            <a:pPr algn="l">
              <a:lnSpc>
                <a:spcPct val="115000"/>
              </a:lnSpc>
            </a:pPr>
            <a:r>
              <a:rPr sz="1300" b="0">
                <a:solidFill>
                  <a:srgbClr val="A9B6C6"/>
                </a:solidFill>
                <a:latin typeface="Courier New"/>
              </a:rPr>
              <a:t>01</a:t>
            </a:r>
          </a:p>
        </p:txBody>
      </p:sp>
      <p:sp>
        <p:nvSpPr>
          <p:cNvPr id="6" name="TextBox 5"/>
          <p:cNvSpPr txBox="1"/>
          <p:nvPr/>
        </p:nvSpPr>
        <p:spPr>
          <a:xfrm>
            <a:off x="1005840" y="2560320"/>
            <a:ext cx="2880360" cy="411480"/>
          </a:xfrm>
          <a:prstGeom prst="rect">
            <a:avLst/>
          </a:prstGeom>
          <a:noFill/>
        </p:spPr>
        <p:txBody>
          <a:bodyPr wrap="square" lIns="0" rIns="0" tIns="0" bIns="0" anchor="t">
            <a:spAutoFit/>
          </a:bodyPr>
          <a:lstStyle/>
          <a:p>
            <a:pPr algn="l">
              <a:lnSpc>
                <a:spcPct val="115000"/>
              </a:lnSpc>
            </a:pPr>
            <a:r>
              <a:rPr sz="1900" b="1">
                <a:solidFill>
                  <a:srgbClr val="E7EEF6"/>
                </a:solidFill>
                <a:latin typeface="Arial"/>
              </a:rPr>
              <a:t>Mainnet</a:t>
            </a:r>
          </a:p>
        </p:txBody>
      </p:sp>
      <p:sp>
        <p:nvSpPr>
          <p:cNvPr id="7" name="TextBox 6"/>
          <p:cNvSpPr txBox="1"/>
          <p:nvPr/>
        </p:nvSpPr>
        <p:spPr>
          <a:xfrm>
            <a:off x="1005840" y="3017520"/>
            <a:ext cx="2880360" cy="914400"/>
          </a:xfrm>
          <a:prstGeom prst="rect">
            <a:avLst/>
          </a:prstGeom>
          <a:noFill/>
        </p:spPr>
        <p:txBody>
          <a:bodyPr wrap="square" lIns="0" rIns="0" tIns="0" bIns="0" anchor="t">
            <a:spAutoFit/>
          </a:bodyPr>
          <a:lstStyle/>
          <a:p>
            <a:pPr algn="l">
              <a:lnSpc>
                <a:spcPct val="130000"/>
              </a:lnSpc>
            </a:pPr>
            <a:r>
              <a:rPr sz="1300" b="0">
                <a:solidFill>
                  <a:srgbClr val="A9B6C6"/>
                </a:solidFill>
                <a:latin typeface="Arial"/>
              </a:rPr>
              <a:t>Second audit, then mainnet with Masumi mainnet escrow and USDM budgets.</a:t>
            </a:r>
          </a:p>
        </p:txBody>
      </p:sp>
      <p:sp>
        <p:nvSpPr>
          <p:cNvPr id="8" name="Rounded Rectangle 7"/>
          <p:cNvSpPr/>
          <p:nvPr/>
        </p:nvSpPr>
        <p:spPr>
          <a:xfrm>
            <a:off x="4379976" y="1920240"/>
            <a:ext cx="3429000" cy="2103120"/>
          </a:xfrm>
          <a:prstGeom prst="roundRect">
            <a:avLst>
              <a:gd name="adj" fmla="val 6086"/>
            </a:avLst>
          </a:prstGeom>
          <a:solidFill>
            <a:srgbClr val="13212F"/>
          </a:solidFill>
          <a:ln w="12700">
            <a:solidFill>
              <a:srgbClr val="2C3E53"/>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9" name="TextBox 8"/>
          <p:cNvSpPr txBox="1"/>
          <p:nvPr/>
        </p:nvSpPr>
        <p:spPr>
          <a:xfrm>
            <a:off x="4654296" y="2148840"/>
            <a:ext cx="914400" cy="365760"/>
          </a:xfrm>
          <a:prstGeom prst="rect">
            <a:avLst/>
          </a:prstGeom>
          <a:noFill/>
        </p:spPr>
        <p:txBody>
          <a:bodyPr wrap="square" lIns="0" rIns="0" tIns="0" bIns="0" anchor="t">
            <a:spAutoFit/>
          </a:bodyPr>
          <a:lstStyle/>
          <a:p>
            <a:pPr algn="l">
              <a:lnSpc>
                <a:spcPct val="115000"/>
              </a:lnSpc>
            </a:pPr>
            <a:r>
              <a:rPr sz="1300" b="0">
                <a:solidFill>
                  <a:srgbClr val="A9B6C6"/>
                </a:solidFill>
                <a:latin typeface="Courier New"/>
              </a:rPr>
              <a:t>02</a:t>
            </a:r>
          </a:p>
        </p:txBody>
      </p:sp>
      <p:sp>
        <p:nvSpPr>
          <p:cNvPr id="10" name="TextBox 9"/>
          <p:cNvSpPr txBox="1"/>
          <p:nvPr/>
        </p:nvSpPr>
        <p:spPr>
          <a:xfrm>
            <a:off x="4654296" y="2560320"/>
            <a:ext cx="2880360" cy="411480"/>
          </a:xfrm>
          <a:prstGeom prst="rect">
            <a:avLst/>
          </a:prstGeom>
          <a:noFill/>
        </p:spPr>
        <p:txBody>
          <a:bodyPr wrap="square" lIns="0" rIns="0" tIns="0" bIns="0" anchor="t">
            <a:spAutoFit/>
          </a:bodyPr>
          <a:lstStyle/>
          <a:p>
            <a:pPr algn="l">
              <a:lnSpc>
                <a:spcPct val="115000"/>
              </a:lnSpc>
            </a:pPr>
            <a:r>
              <a:rPr sz="1900" b="1">
                <a:solidFill>
                  <a:srgbClr val="E7EEF6"/>
                </a:solidFill>
                <a:latin typeface="Arial"/>
              </a:rPr>
              <a:t>Trustless Masumi leaves</a:t>
            </a:r>
          </a:p>
        </p:txBody>
      </p:sp>
      <p:sp>
        <p:nvSpPr>
          <p:cNvPr id="11" name="TextBox 10"/>
          <p:cNvSpPr txBox="1"/>
          <p:nvPr/>
        </p:nvSpPr>
        <p:spPr>
          <a:xfrm>
            <a:off x="4654296" y="3017520"/>
            <a:ext cx="2880360" cy="914400"/>
          </a:xfrm>
          <a:prstGeom prst="rect">
            <a:avLst/>
          </a:prstGeom>
          <a:noFill/>
        </p:spPr>
        <p:txBody>
          <a:bodyPr wrap="square" lIns="0" rIns="0" tIns="0" bIns="0" anchor="t">
            <a:spAutoFit/>
          </a:bodyPr>
          <a:lstStyle/>
          <a:p>
            <a:pPr algn="l">
              <a:lnSpc>
                <a:spcPct val="130000"/>
              </a:lnSpc>
            </a:pPr>
            <a:r>
              <a:rPr sz="1300" b="0">
                <a:solidFill>
                  <a:srgbClr val="A9B6C6"/>
                </a:solidFill>
                <a:latin typeface="Arial"/>
              </a:rPr>
              <a:t>Once Masumi accepts script-created locks (BLOCKERS.md B6).</a:t>
            </a:r>
          </a:p>
        </p:txBody>
      </p:sp>
      <p:sp>
        <p:nvSpPr>
          <p:cNvPr id="12" name="Rounded Rectangle 11"/>
          <p:cNvSpPr/>
          <p:nvPr/>
        </p:nvSpPr>
        <p:spPr>
          <a:xfrm>
            <a:off x="8028432" y="1920240"/>
            <a:ext cx="3429000" cy="2103120"/>
          </a:xfrm>
          <a:prstGeom prst="roundRect">
            <a:avLst>
              <a:gd name="adj" fmla="val 6086"/>
            </a:avLst>
          </a:prstGeom>
          <a:solidFill>
            <a:srgbClr val="13212F"/>
          </a:solidFill>
          <a:ln w="12700">
            <a:solidFill>
              <a:srgbClr val="2C3E53"/>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3" name="TextBox 12"/>
          <p:cNvSpPr txBox="1"/>
          <p:nvPr/>
        </p:nvSpPr>
        <p:spPr>
          <a:xfrm>
            <a:off x="8302752" y="2148840"/>
            <a:ext cx="914400" cy="365760"/>
          </a:xfrm>
          <a:prstGeom prst="rect">
            <a:avLst/>
          </a:prstGeom>
          <a:noFill/>
        </p:spPr>
        <p:txBody>
          <a:bodyPr wrap="square" lIns="0" rIns="0" tIns="0" bIns="0" anchor="t">
            <a:spAutoFit/>
          </a:bodyPr>
          <a:lstStyle/>
          <a:p>
            <a:pPr algn="l">
              <a:lnSpc>
                <a:spcPct val="115000"/>
              </a:lnSpc>
            </a:pPr>
            <a:r>
              <a:rPr sz="1300" b="0">
                <a:solidFill>
                  <a:srgbClr val="A9B6C6"/>
                </a:solidFill>
                <a:latin typeface="Courier New"/>
              </a:rPr>
              <a:t>03</a:t>
            </a:r>
          </a:p>
        </p:txBody>
      </p:sp>
      <p:sp>
        <p:nvSpPr>
          <p:cNvPr id="14" name="TextBox 13"/>
          <p:cNvSpPr txBox="1"/>
          <p:nvPr/>
        </p:nvSpPr>
        <p:spPr>
          <a:xfrm>
            <a:off x="8302752" y="2560320"/>
            <a:ext cx="2880360" cy="411480"/>
          </a:xfrm>
          <a:prstGeom prst="rect">
            <a:avLst/>
          </a:prstGeom>
          <a:noFill/>
        </p:spPr>
        <p:txBody>
          <a:bodyPr wrap="square" lIns="0" rIns="0" tIns="0" bIns="0" anchor="t">
            <a:spAutoFit/>
          </a:bodyPr>
          <a:lstStyle/>
          <a:p>
            <a:pPr algn="l">
              <a:lnSpc>
                <a:spcPct val="115000"/>
              </a:lnSpc>
            </a:pPr>
            <a:r>
              <a:rPr sz="1900" b="1">
                <a:solidFill>
                  <a:srgbClr val="E7EEF6"/>
                </a:solidFill>
                <a:latin typeface="Arial"/>
              </a:rPr>
              <a:t>Coworkers as leaves</a:t>
            </a:r>
          </a:p>
        </p:txBody>
      </p:sp>
      <p:sp>
        <p:nvSpPr>
          <p:cNvPr id="15" name="TextBox 14"/>
          <p:cNvSpPr txBox="1"/>
          <p:nvPr/>
        </p:nvSpPr>
        <p:spPr>
          <a:xfrm>
            <a:off x="8302752" y="3017520"/>
            <a:ext cx="2880360" cy="914400"/>
          </a:xfrm>
          <a:prstGeom prst="rect">
            <a:avLst/>
          </a:prstGeom>
          <a:noFill/>
        </p:spPr>
        <p:txBody>
          <a:bodyPr wrap="square" lIns="0" rIns="0" tIns="0" bIns="0" anchor="t">
            <a:spAutoFit/>
          </a:bodyPr>
          <a:lstStyle/>
          <a:p>
            <a:pPr algn="l">
              <a:lnSpc>
                <a:spcPct val="130000"/>
              </a:lnSpc>
            </a:pPr>
            <a:r>
              <a:rPr sz="1300" b="0">
                <a:solidFill>
                  <a:srgbClr val="A9B6C6"/>
                </a:solidFill>
                <a:latin typeface="Arial"/>
              </a:rPr>
              <a:t>Other Sokosumi Coworkers hired as leaves of a Cascade tree.</a:t>
            </a:r>
          </a:p>
        </p:txBody>
      </p:sp>
      <p:sp>
        <p:nvSpPr>
          <p:cNvPr id="16" name="TextBox 15"/>
          <p:cNvSpPr txBox="1"/>
          <p:nvPr/>
        </p:nvSpPr>
        <p:spPr>
          <a:xfrm>
            <a:off x="731520" y="4526280"/>
            <a:ext cx="10728655" cy="457200"/>
          </a:xfrm>
          <a:prstGeom prst="rect">
            <a:avLst/>
          </a:prstGeom>
          <a:noFill/>
        </p:spPr>
        <p:txBody>
          <a:bodyPr wrap="square" lIns="0" rIns="0" tIns="0" bIns="0" anchor="t">
            <a:spAutoFit/>
          </a:bodyPr>
          <a:lstStyle/>
          <a:p>
            <a:pPr algn="l">
              <a:lnSpc>
                <a:spcPct val="115000"/>
              </a:lnSpc>
            </a:pPr>
            <a:r>
              <a:rPr sz="2100" b="1">
                <a:solidFill>
                  <a:srgbClr val="E7EEF6"/>
                </a:solidFill>
                <a:latin typeface="Arial"/>
              </a:rPr>
              <a:t>Try the Coworker on Sokosumi. Talk to us if you run agents that hire agents.</a:t>
            </a:r>
          </a:p>
        </p:txBody>
      </p:sp>
      <p:sp>
        <p:nvSpPr>
          <p:cNvPr id="17" name="TextBox 16"/>
          <p:cNvSpPr txBox="1"/>
          <p:nvPr/>
        </p:nvSpPr>
        <p:spPr>
          <a:xfrm>
            <a:off x="731520" y="5166360"/>
            <a:ext cx="1280160" cy="274320"/>
          </a:xfrm>
          <a:prstGeom prst="rect">
            <a:avLst/>
          </a:prstGeom>
          <a:noFill/>
        </p:spPr>
        <p:txBody>
          <a:bodyPr wrap="square" lIns="0" rIns="0" tIns="0" bIns="0" anchor="t">
            <a:spAutoFit/>
          </a:bodyPr>
          <a:lstStyle/>
          <a:p>
            <a:pPr algn="l">
              <a:lnSpc>
                <a:spcPct val="115000"/>
              </a:lnSpc>
            </a:pPr>
            <a:r>
              <a:rPr sz="1050" b="1" spc="120">
                <a:solidFill>
                  <a:srgbClr val="A9B6C6"/>
                </a:solidFill>
                <a:latin typeface="Arial"/>
              </a:rPr>
              <a:t>SITE</a:t>
            </a:r>
          </a:p>
        </p:txBody>
      </p:sp>
      <p:sp>
        <p:nvSpPr>
          <p:cNvPr id="18" name="TextBox 17"/>
          <p:cNvSpPr txBox="1"/>
          <p:nvPr/>
        </p:nvSpPr>
        <p:spPr>
          <a:xfrm>
            <a:off x="2011680" y="5148072"/>
            <a:ext cx="8229600" cy="274320"/>
          </a:xfrm>
          <a:prstGeom prst="rect">
            <a:avLst/>
          </a:prstGeom>
          <a:noFill/>
        </p:spPr>
        <p:txBody>
          <a:bodyPr wrap="square" lIns="0" rIns="0" tIns="0" bIns="0" anchor="t">
            <a:spAutoFit/>
          </a:bodyPr>
          <a:lstStyle/>
          <a:p>
            <a:pPr algn="l">
              <a:lnSpc>
                <a:spcPct val="115000"/>
              </a:lnSpc>
            </a:pPr>
            <a:r>
              <a:rPr sz="1300" b="0">
                <a:solidFill>
                  <a:srgbClr val="E7EEF6"/>
                </a:solidFill>
                <a:latin typeface="Courier New"/>
              </a:rPr>
              <a:t>https://cascade-alpha-amber.vercel.app</a:t>
            </a:r>
          </a:p>
        </p:txBody>
      </p:sp>
      <p:sp>
        <p:nvSpPr>
          <p:cNvPr id="19" name="TextBox 18"/>
          <p:cNvSpPr txBox="1"/>
          <p:nvPr/>
        </p:nvSpPr>
        <p:spPr>
          <a:xfrm>
            <a:off x="731520" y="5495544"/>
            <a:ext cx="1280160" cy="274320"/>
          </a:xfrm>
          <a:prstGeom prst="rect">
            <a:avLst/>
          </a:prstGeom>
          <a:noFill/>
        </p:spPr>
        <p:txBody>
          <a:bodyPr wrap="square" lIns="0" rIns="0" tIns="0" bIns="0" anchor="t">
            <a:spAutoFit/>
          </a:bodyPr>
          <a:lstStyle/>
          <a:p>
            <a:pPr algn="l">
              <a:lnSpc>
                <a:spcPct val="115000"/>
              </a:lnSpc>
            </a:pPr>
            <a:r>
              <a:rPr sz="1050" b="1" spc="120">
                <a:solidFill>
                  <a:srgbClr val="A9B6C6"/>
                </a:solidFill>
                <a:latin typeface="Arial"/>
              </a:rPr>
              <a:t>COWORKER</a:t>
            </a:r>
          </a:p>
        </p:txBody>
      </p:sp>
      <p:sp>
        <p:nvSpPr>
          <p:cNvPr id="20" name="TextBox 19"/>
          <p:cNvSpPr txBox="1"/>
          <p:nvPr/>
        </p:nvSpPr>
        <p:spPr>
          <a:xfrm>
            <a:off x="2011680" y="5477256"/>
            <a:ext cx="8229600" cy="274320"/>
          </a:xfrm>
          <a:prstGeom prst="rect">
            <a:avLst/>
          </a:prstGeom>
          <a:noFill/>
        </p:spPr>
        <p:txBody>
          <a:bodyPr wrap="square" lIns="0" rIns="0" tIns="0" bIns="0" anchor="t">
            <a:spAutoFit/>
          </a:bodyPr>
          <a:lstStyle/>
          <a:p>
            <a:pPr algn="l">
              <a:lnSpc>
                <a:spcPct val="115000"/>
              </a:lnSpc>
            </a:pPr>
            <a:r>
              <a:rPr sz="1300" b="0">
                <a:solidFill>
                  <a:srgbClr val="E7EEF6"/>
                </a:solidFill>
                <a:latin typeface="Courier New"/>
              </a:rPr>
              <a:t>01a110cd-4ee0-763b-ae63-4008564c9f8e</a:t>
            </a:r>
          </a:p>
        </p:txBody>
      </p:sp>
      <p:sp>
        <p:nvSpPr>
          <p:cNvPr id="21" name="TextBox 20"/>
          <p:cNvSpPr txBox="1"/>
          <p:nvPr/>
        </p:nvSpPr>
        <p:spPr>
          <a:xfrm>
            <a:off x="731520" y="5824728"/>
            <a:ext cx="1280160" cy="274320"/>
          </a:xfrm>
          <a:prstGeom prst="rect">
            <a:avLst/>
          </a:prstGeom>
          <a:noFill/>
        </p:spPr>
        <p:txBody>
          <a:bodyPr wrap="square" lIns="0" rIns="0" tIns="0" bIns="0" anchor="t">
            <a:spAutoFit/>
          </a:bodyPr>
          <a:lstStyle/>
          <a:p>
            <a:pPr algn="l">
              <a:lnSpc>
                <a:spcPct val="115000"/>
              </a:lnSpc>
            </a:pPr>
            <a:r>
              <a:rPr sz="1050" b="1" spc="120">
                <a:solidFill>
                  <a:srgbClr val="A9B6C6"/>
                </a:solidFill>
                <a:latin typeface="Arial"/>
              </a:rPr>
              <a:t>CODE</a:t>
            </a:r>
          </a:p>
        </p:txBody>
      </p:sp>
      <p:sp>
        <p:nvSpPr>
          <p:cNvPr id="22" name="TextBox 21"/>
          <p:cNvSpPr txBox="1"/>
          <p:nvPr/>
        </p:nvSpPr>
        <p:spPr>
          <a:xfrm>
            <a:off x="2011680" y="5806440"/>
            <a:ext cx="8229600" cy="274320"/>
          </a:xfrm>
          <a:prstGeom prst="rect">
            <a:avLst/>
          </a:prstGeom>
          <a:noFill/>
        </p:spPr>
        <p:txBody>
          <a:bodyPr wrap="square" lIns="0" rIns="0" tIns="0" bIns="0" anchor="t">
            <a:spAutoFit/>
          </a:bodyPr>
          <a:lstStyle/>
          <a:p>
            <a:pPr algn="l">
              <a:lnSpc>
                <a:spcPct val="115000"/>
              </a:lnSpc>
            </a:pPr>
            <a:r>
              <a:rPr sz="1300" b="0">
                <a:solidFill>
                  <a:srgbClr val="E7EEF6"/>
                </a:solidFill>
                <a:latin typeface="Courier New"/>
              </a:rPr>
              <a:t>https://github.com/Adwaitbytes/cascade-cardano</a:t>
            </a:r>
          </a:p>
        </p:txBody>
      </p:sp>
      <p:sp>
        <p:nvSpPr>
          <p:cNvPr id="23" name="TextBox 22"/>
          <p:cNvSpPr txBox="1"/>
          <p:nvPr/>
        </p:nvSpPr>
        <p:spPr>
          <a:xfrm>
            <a:off x="731520" y="6419088"/>
            <a:ext cx="5486400" cy="228600"/>
          </a:xfrm>
          <a:prstGeom prst="rect">
            <a:avLst/>
          </a:prstGeom>
          <a:noFill/>
        </p:spPr>
        <p:txBody>
          <a:bodyPr wrap="square" lIns="0" rIns="0" tIns="0" bIns="0" anchor="t">
            <a:spAutoFit/>
          </a:bodyPr>
          <a:lstStyle/>
          <a:p>
            <a:pPr algn="l">
              <a:lnSpc>
                <a:spcPct val="115000"/>
              </a:lnSpc>
            </a:pPr>
            <a:r>
              <a:rPr sz="1050" b="1">
                <a:solidFill>
                  <a:srgbClr val="A9B6C6"/>
                </a:solidFill>
                <a:latin typeface="Arial"/>
              </a:rPr>
              <a:t>Cascade</a:t>
            </a:r>
          </a:p>
        </p:txBody>
      </p:sp>
      <p:sp>
        <p:nvSpPr>
          <p:cNvPr id="24" name="TextBox 23"/>
          <p:cNvSpPr txBox="1"/>
          <p:nvPr/>
        </p:nvSpPr>
        <p:spPr>
          <a:xfrm>
            <a:off x="10545775" y="6419088"/>
            <a:ext cx="914400" cy="228600"/>
          </a:xfrm>
          <a:prstGeom prst="rect">
            <a:avLst/>
          </a:prstGeom>
          <a:noFill/>
        </p:spPr>
        <p:txBody>
          <a:bodyPr wrap="square" lIns="0" rIns="0" tIns="0" bIns="0" anchor="t">
            <a:spAutoFit/>
          </a:bodyPr>
          <a:lstStyle/>
          <a:p>
            <a:pPr algn="r">
              <a:lnSpc>
                <a:spcPct val="115000"/>
              </a:lnSpc>
            </a:pPr>
            <a:r>
              <a:rPr sz="1050" b="0">
                <a:solidFill>
                  <a:srgbClr val="A9B6C6"/>
                </a:solidFill>
                <a:latin typeface="Courier New"/>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Cascade: escrow trees for agent work</dc:title>
  <dc:subject/>
  <dc:creator>Cascade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